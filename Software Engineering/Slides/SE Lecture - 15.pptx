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idNLOnQ+et2HZmWz/qmocfjXZ3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" type="body"/>
          </p:nvPr>
        </p:nvSpPr>
        <p:spPr>
          <a:xfrm>
            <a:off x="714588" y="1542813"/>
            <a:ext cx="107628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1" type="ftr"/>
          </p:nvPr>
        </p:nvSpPr>
        <p:spPr>
          <a:xfrm>
            <a:off x="3693163" y="6533880"/>
            <a:ext cx="5416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0" type="dt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2864" marR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62864" marR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62864" marR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62864" marR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62864" marR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62864" marR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62864" marR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62864" marR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2864" marR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idx="11" type="ftr"/>
          </p:nvPr>
        </p:nvSpPr>
        <p:spPr>
          <a:xfrm>
            <a:off x="3693163" y="6533880"/>
            <a:ext cx="5416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0" type="dt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4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" type="body"/>
          </p:nvPr>
        </p:nvSpPr>
        <p:spPr>
          <a:xfrm>
            <a:off x="609600" y="1577340"/>
            <a:ext cx="53035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2" type="body"/>
          </p:nvPr>
        </p:nvSpPr>
        <p:spPr>
          <a:xfrm>
            <a:off x="6278879" y="1577340"/>
            <a:ext cx="53035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1" type="ftr"/>
          </p:nvPr>
        </p:nvSpPr>
        <p:spPr>
          <a:xfrm>
            <a:off x="3693163" y="6533880"/>
            <a:ext cx="5416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0" type="dt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 txBox="1"/>
          <p:nvPr>
            <p:ph type="ctrTitle"/>
          </p:nvPr>
        </p:nvSpPr>
        <p:spPr>
          <a:xfrm>
            <a:off x="914400" y="2125981"/>
            <a:ext cx="103632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" type="subTitle"/>
          </p:nvPr>
        </p:nvSpPr>
        <p:spPr>
          <a:xfrm>
            <a:off x="1828801" y="3840480"/>
            <a:ext cx="85343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1" type="ftr"/>
          </p:nvPr>
        </p:nvSpPr>
        <p:spPr>
          <a:xfrm>
            <a:off x="3693163" y="6533880"/>
            <a:ext cx="5416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0" type="dt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6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693163" y="6533880"/>
            <a:ext cx="5416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0" type="dt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2864" marR="0" algn="l">
              <a:spcBef>
                <a:spcPts val="0"/>
              </a:spcBef>
              <a:buNone/>
              <a:defRPr b="0" i="0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714588" y="1542813"/>
            <a:ext cx="107628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1" type="ftr"/>
          </p:nvPr>
        </p:nvSpPr>
        <p:spPr>
          <a:xfrm>
            <a:off x="3693163" y="6533880"/>
            <a:ext cx="54161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0" type="dt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2864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62864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62864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62864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62864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62864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62864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62864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2864" marR="0" rtl="0" algn="l">
              <a:spcBef>
                <a:spcPts val="0"/>
              </a:spcBef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jp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1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Contents</a:t>
            </a:r>
            <a:endParaRPr/>
          </a:p>
        </p:txBody>
      </p:sp>
      <p:sp>
        <p:nvSpPr>
          <p:cNvPr id="46" name="Google Shape;46;p1"/>
          <p:cNvSpPr txBox="1"/>
          <p:nvPr>
            <p:ph idx="1" type="body"/>
          </p:nvPr>
        </p:nvSpPr>
        <p:spPr>
          <a:xfrm>
            <a:off x="304255" y="3097966"/>
            <a:ext cx="11176809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Software Testing</a:t>
            </a:r>
            <a:endParaRPr/>
          </a:p>
        </p:txBody>
      </p:sp>
      <p:sp>
        <p:nvSpPr>
          <p:cNvPr id="47" name="Google Shape;47;p1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Common software problems!</a:t>
            </a:r>
            <a:endParaRPr/>
          </a:p>
        </p:txBody>
      </p:sp>
      <p:sp>
        <p:nvSpPr>
          <p:cNvPr id="53" name="Google Shape;53;p2"/>
          <p:cNvSpPr txBox="1"/>
          <p:nvPr>
            <p:ph idx="1" type="body"/>
          </p:nvPr>
        </p:nvSpPr>
        <p:spPr>
          <a:xfrm>
            <a:off x="267812" y="1091193"/>
            <a:ext cx="11582400" cy="6217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What are the problems you encounter as software users?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2900" lvl="1" marL="800100" rtl="0" algn="just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Incorrect calculation</a:t>
            </a:r>
            <a:endParaRPr/>
          </a:p>
          <a:p>
            <a:pPr indent="-342900" lvl="1" marL="800100" rtl="0" algn="just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Incorrect data edits &amp; ineffective data edits</a:t>
            </a:r>
            <a:endParaRPr/>
          </a:p>
          <a:p>
            <a:pPr indent="-342900" lvl="1" marL="800100" rtl="0" algn="just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Incorrect matching and merging of data</a:t>
            </a:r>
            <a:endParaRPr/>
          </a:p>
          <a:p>
            <a:pPr indent="-342900" lvl="1" marL="800100" rtl="0" algn="just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Data searches that yield incorrect results</a:t>
            </a:r>
            <a:endParaRPr/>
          </a:p>
          <a:p>
            <a:pPr indent="-342900" lvl="1" marL="800100" rtl="0" algn="just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Incorrect processing of data relationship</a:t>
            </a:r>
            <a:endParaRPr/>
          </a:p>
          <a:p>
            <a:pPr indent="-342900" lvl="1" marL="800100" rtl="0" algn="just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Incorrect coding/processing of business rules</a:t>
            </a:r>
            <a:endParaRPr/>
          </a:p>
          <a:p>
            <a:pPr indent="-342900" lvl="1" marL="800100" rtl="0" algn="just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Inadequate software performance</a:t>
            </a:r>
            <a:endParaRPr/>
          </a:p>
          <a:p>
            <a:pPr indent="-342900" lvl="1" marL="800100" rtl="0" algn="just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Confusing or misleading data</a:t>
            </a:r>
            <a:endParaRPr/>
          </a:p>
          <a:p>
            <a:pPr indent="-342900" lvl="1" marL="800100" rtl="0" algn="just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Inconsistent processing</a:t>
            </a:r>
            <a:endParaRPr/>
          </a:p>
          <a:p>
            <a:pPr indent="-342900" lvl="1" marL="800100" rtl="0" algn="just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Unreliable results or performance</a:t>
            </a:r>
            <a:endParaRPr/>
          </a:p>
          <a:p>
            <a:pPr indent="-342900" lvl="1" marL="800100" rtl="0" algn="just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Incorrect or inadequate interfaces with other systems</a:t>
            </a:r>
            <a:endParaRPr/>
          </a:p>
          <a:p>
            <a:pPr indent="-342900" lvl="1" marL="800100" rtl="0" algn="just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Incorrect file handling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4" name="Google Shape;54;p2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Common software problems!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Who is responsible for testing?</a:t>
            </a:r>
            <a:endParaRPr/>
          </a:p>
        </p:txBody>
      </p:sp>
      <p:sp>
        <p:nvSpPr>
          <p:cNvPr id="61" name="Google Shape;61;p3"/>
          <p:cNvSpPr txBox="1"/>
          <p:nvPr/>
        </p:nvSpPr>
        <p:spPr>
          <a:xfrm>
            <a:off x="2514600" y="2514600"/>
            <a:ext cx="12192000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1" i="0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 is responsible for testing?</a:t>
            </a:r>
            <a:endParaRPr/>
          </a:p>
        </p:txBody>
      </p:sp>
      <p:sp>
        <p:nvSpPr>
          <p:cNvPr id="62" name="Google Shape;62;p3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/>
          <p:nvPr>
            <p:ph type="title"/>
          </p:nvPr>
        </p:nvSpPr>
        <p:spPr>
          <a:xfrm>
            <a:off x="0" y="0"/>
            <a:ext cx="12192000" cy="738664"/>
          </a:xfrm>
          <a:prstGeom prst="rect">
            <a:avLst/>
          </a:prstGeom>
          <a:solidFill>
            <a:srgbClr val="3F315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/>
              <a:t>Objectives of a software tester</a:t>
            </a:r>
            <a:endParaRPr/>
          </a:p>
        </p:txBody>
      </p:sp>
      <p:sp>
        <p:nvSpPr>
          <p:cNvPr id="69" name="Google Shape;69;p4"/>
          <p:cNvSpPr txBox="1"/>
          <p:nvPr>
            <p:ph idx="1" type="body"/>
          </p:nvPr>
        </p:nvSpPr>
        <p:spPr>
          <a:xfrm>
            <a:off x="304254" y="1295400"/>
            <a:ext cx="11278145" cy="5539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Find bugs as </a:t>
            </a:r>
            <a:r>
              <a:rPr b="1" lang="en-US" sz="4000">
                <a:solidFill>
                  <a:srgbClr val="FF0000"/>
                </a:solidFill>
              </a:rPr>
              <a:t>early as possible </a:t>
            </a:r>
            <a:r>
              <a:rPr lang="en-US" sz="3200"/>
              <a:t>and make sure they get fixed</a:t>
            </a:r>
            <a:endParaRPr/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To </a:t>
            </a:r>
            <a:r>
              <a:rPr b="1" lang="en-US" sz="3200">
                <a:solidFill>
                  <a:srgbClr val="FF0000"/>
                </a:solidFill>
              </a:rPr>
              <a:t>understand</a:t>
            </a:r>
            <a:r>
              <a:rPr lang="en-US" sz="3200"/>
              <a:t> the application well</a:t>
            </a:r>
            <a:endParaRPr/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Study the functionality in detail to find </a:t>
            </a:r>
            <a:r>
              <a:rPr b="1" lang="en-US" sz="3200">
                <a:solidFill>
                  <a:srgbClr val="FF0000"/>
                </a:solidFill>
              </a:rPr>
              <a:t>where the bugs </a:t>
            </a:r>
            <a:r>
              <a:rPr lang="en-US" sz="3200"/>
              <a:t>are likely to occur.</a:t>
            </a:r>
            <a:endParaRPr/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Study the code to </a:t>
            </a:r>
            <a:r>
              <a:rPr b="1" lang="en-US" sz="3200">
                <a:solidFill>
                  <a:srgbClr val="FF0000"/>
                </a:solidFill>
              </a:rPr>
              <a:t>ensure</a:t>
            </a:r>
            <a:r>
              <a:rPr lang="en-US" sz="3200"/>
              <a:t> that each and every line of </a:t>
            </a:r>
            <a:r>
              <a:rPr b="1" lang="en-US" sz="3200">
                <a:solidFill>
                  <a:srgbClr val="FF0000"/>
                </a:solidFill>
              </a:rPr>
              <a:t>code is tested</a:t>
            </a:r>
            <a:r>
              <a:rPr lang="en-US" sz="3200"/>
              <a:t>.</a:t>
            </a:r>
            <a:endParaRPr/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Create test cases in such a way that testing is done to uncover the hidden bugs and also ensure that the software is usable and reliable </a:t>
            </a:r>
            <a:endParaRPr/>
          </a:p>
          <a:p>
            <a:pPr indent="-2540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/>
          </a:p>
        </p:txBody>
      </p:sp>
      <p:sp>
        <p:nvSpPr>
          <p:cNvPr id="70" name="Google Shape;70;p4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 txBox="1"/>
          <p:nvPr>
            <p:ph type="title"/>
          </p:nvPr>
        </p:nvSpPr>
        <p:spPr>
          <a:xfrm>
            <a:off x="0" y="19878"/>
            <a:ext cx="12192000" cy="738664"/>
          </a:xfrm>
          <a:prstGeom prst="rect">
            <a:avLst/>
          </a:prstGeom>
          <a:solidFill>
            <a:srgbClr val="3F315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/>
              <a:t>Objectives of testing</a:t>
            </a:r>
            <a:endParaRPr/>
          </a:p>
        </p:txBody>
      </p:sp>
      <p:sp>
        <p:nvSpPr>
          <p:cNvPr id="76" name="Google Shape;76;p5"/>
          <p:cNvSpPr txBox="1"/>
          <p:nvPr>
            <p:ph idx="1" type="body"/>
          </p:nvPr>
        </p:nvSpPr>
        <p:spPr>
          <a:xfrm>
            <a:off x="609600" y="1066800"/>
            <a:ext cx="10972800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68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Executing a program with the intent of finding an </a:t>
            </a:r>
            <a:r>
              <a:rPr i="1" lang="en-US" sz="2800"/>
              <a:t>error</a:t>
            </a:r>
            <a:endParaRPr/>
          </a:p>
          <a:p>
            <a:pPr indent="-457200" lvl="0" marL="468000" rtl="0" algn="just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To check if the system meets the requirements and be executed successfully in the Intended environment</a:t>
            </a:r>
            <a:endParaRPr/>
          </a:p>
          <a:p>
            <a:pPr indent="-457200" lvl="0" marL="468000" rtl="0" algn="just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To check if the system is “ Fit for purpose”</a:t>
            </a:r>
            <a:endParaRPr/>
          </a:p>
          <a:p>
            <a:pPr indent="-457200" lvl="0" marL="468000" rtl="0" algn="just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To check if the </a:t>
            </a:r>
            <a:r>
              <a:rPr b="1" lang="en-US" sz="2800">
                <a:solidFill>
                  <a:srgbClr val="FF0000"/>
                </a:solidFill>
              </a:rPr>
              <a:t>system does </a:t>
            </a:r>
            <a:r>
              <a:rPr lang="en-US" sz="2800"/>
              <a:t>what it is </a:t>
            </a:r>
            <a:r>
              <a:rPr b="1" lang="en-US" sz="2800">
                <a:solidFill>
                  <a:srgbClr val="FF0000"/>
                </a:solidFill>
              </a:rPr>
              <a:t>expected</a:t>
            </a:r>
            <a:r>
              <a:rPr lang="en-US" sz="2800"/>
              <a:t> to do</a:t>
            </a:r>
            <a:endParaRPr/>
          </a:p>
          <a:p>
            <a:pPr indent="-457200" lvl="0" marL="468000" rtl="0" algn="just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 </a:t>
            </a:r>
            <a:r>
              <a:rPr b="1" lang="en-US" sz="2800">
                <a:solidFill>
                  <a:srgbClr val="FF0000"/>
                </a:solidFill>
              </a:rPr>
              <a:t>good test case </a:t>
            </a:r>
            <a:r>
              <a:rPr lang="en-US" sz="2800"/>
              <a:t>is one that has a probability of finding an as yet undiscovered error</a:t>
            </a:r>
            <a:endParaRPr/>
          </a:p>
          <a:p>
            <a:pPr indent="-457200" lvl="0" marL="468000" rtl="0" algn="just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 good test is not redundant</a:t>
            </a:r>
            <a:endParaRPr/>
          </a:p>
          <a:p>
            <a:pPr indent="-457200" lvl="0" marL="468000" rtl="0" algn="just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 good test should neither be too simple nor too complex</a:t>
            </a:r>
            <a:endParaRPr/>
          </a:p>
        </p:txBody>
      </p:sp>
      <p:sp>
        <p:nvSpPr>
          <p:cNvPr id="77" name="Google Shape;77;p5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 txBox="1"/>
          <p:nvPr>
            <p:ph type="title"/>
          </p:nvPr>
        </p:nvSpPr>
        <p:spPr>
          <a:xfrm>
            <a:off x="0" y="0"/>
            <a:ext cx="12192000" cy="738664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/>
              <a:t>Confusing but related!!!</a:t>
            </a:r>
            <a:endParaRPr/>
          </a:p>
        </p:txBody>
      </p:sp>
      <p:sp>
        <p:nvSpPr>
          <p:cNvPr id="83" name="Google Shape;83;p6"/>
          <p:cNvSpPr txBox="1"/>
          <p:nvPr>
            <p:ph idx="1" type="body"/>
          </p:nvPr>
        </p:nvSpPr>
        <p:spPr>
          <a:xfrm>
            <a:off x="114300" y="1143000"/>
            <a:ext cx="11963400" cy="521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Verification</a:t>
            </a:r>
            <a:r>
              <a:rPr lang="en-US" sz="2800"/>
              <a:t> (</a:t>
            </a:r>
            <a:r>
              <a:rPr b="1" i="1" lang="en-US" sz="2800" u="sng">
                <a:solidFill>
                  <a:schemeClr val="accent2"/>
                </a:solidFill>
              </a:rPr>
              <a:t>Are the algorithms coded correctly?)</a:t>
            </a:r>
            <a:endParaRPr/>
          </a:p>
          <a:p>
            <a:pPr indent="-342900" lvl="1" marL="8001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The set of activities that ensure that software correctly implements a specific function or algorithm</a:t>
            </a:r>
            <a:endParaRPr/>
          </a:p>
          <a:p>
            <a:pPr indent="-342900" lvl="1" marL="8001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Involves reviews and meeting to evaluate documents, plans, code, requirements, and specifications. </a:t>
            </a:r>
            <a:endParaRPr/>
          </a:p>
          <a:p>
            <a:pPr indent="-342900" lvl="1" marL="8001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Usually done with checklists, walkthroughs, and inspection meeting.</a:t>
            </a:r>
            <a:endParaRPr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	</a:t>
            </a:r>
            <a:endParaRPr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Validation</a:t>
            </a:r>
            <a:r>
              <a:rPr lang="en-US" sz="2800"/>
              <a:t> (</a:t>
            </a:r>
            <a:r>
              <a:rPr b="1" i="1" lang="en-US" sz="2800" u="sng">
                <a:solidFill>
                  <a:schemeClr val="accent2"/>
                </a:solidFill>
              </a:rPr>
              <a:t>Does it meet user requirements?)</a:t>
            </a:r>
            <a:endParaRPr/>
          </a:p>
          <a:p>
            <a:pPr indent="-457200" lvl="1" marL="9144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The set of activities that ensure that the software that has been built is traceable to customer requirements</a:t>
            </a:r>
            <a:endParaRPr/>
          </a:p>
          <a:p>
            <a:pPr indent="-342900" lvl="1" marL="8001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Involves actual testing and takes place after verifications are completed.</a:t>
            </a:r>
            <a:endParaRPr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       </a:t>
            </a:r>
            <a:endParaRPr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Validation and Verification process continue in a cycle till the software becomes defects free.</a:t>
            </a:r>
            <a:endParaRPr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84" name="Google Shape;84;p6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/>
        </p:nvSpPr>
        <p:spPr>
          <a:xfrm>
            <a:off x="2276038" y="2934689"/>
            <a:ext cx="7633334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>
            <a:off x="152400" y="1371600"/>
            <a:ext cx="11582400" cy="3757815"/>
          </a:xfrm>
          <a:custGeom>
            <a:rect b="b" l="l" r="r" t="t"/>
            <a:pathLst>
              <a:path extrusionOk="0" h="3733800" w="8229600">
                <a:moveTo>
                  <a:pt x="0" y="3733799"/>
                </a:moveTo>
                <a:lnTo>
                  <a:pt x="8229599" y="3733799"/>
                </a:lnTo>
                <a:lnTo>
                  <a:pt x="8229599" y="0"/>
                </a:lnTo>
                <a:lnTo>
                  <a:pt x="0" y="0"/>
                </a:lnTo>
                <a:lnTo>
                  <a:pt x="0" y="3733799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 txBox="1"/>
          <p:nvPr/>
        </p:nvSpPr>
        <p:spPr>
          <a:xfrm>
            <a:off x="152400" y="1542814"/>
            <a:ext cx="115824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0" marR="38862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process of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analyzing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software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item to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detect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differences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existing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required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conditions (that is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defects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errors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bugs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to evaluate the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features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software item</a:t>
            </a:r>
            <a:endParaRPr/>
          </a:p>
          <a:p>
            <a:pPr indent="0" lvl="0" marL="0" marR="0" rtl="0" algn="just">
              <a:spcBef>
                <a:spcPts val="39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[IEEE]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Software Testing?</a:t>
            </a:r>
            <a:endParaRPr/>
          </a:p>
        </p:txBody>
      </p:sp>
      <p:sp>
        <p:nvSpPr>
          <p:cNvPr id="100" name="Google Shape;100;p8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/>
          <p:nvPr/>
        </p:nvSpPr>
        <p:spPr>
          <a:xfrm>
            <a:off x="2192218" y="3374090"/>
            <a:ext cx="780034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DEFINITIONS AND PROCESS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/>
          <p:nvPr/>
        </p:nvSpPr>
        <p:spPr>
          <a:xfrm>
            <a:off x="25758" y="1127636"/>
            <a:ext cx="11937642" cy="2054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14605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000"/>
              <a:buFont typeface="Noto Sans Symbols"/>
              <a:buChar char="▪"/>
            </a:pP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Testing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obviously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concerned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errors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faults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failures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incidents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7"/>
              </a:spcBef>
              <a:spcAft>
                <a:spcPts val="0"/>
              </a:spcAft>
              <a:buClr>
                <a:schemeClr val="dk1"/>
              </a:buClr>
              <a:buSzPts val="4350"/>
              <a:buFont typeface="Noto Sans Symbols"/>
              <a:buNone/>
            </a:pPr>
            <a:r>
              <a:t/>
            </a:r>
            <a:endParaRPr sz="4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▪"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 test is the act of </a:t>
            </a:r>
            <a:r>
              <a:rPr lang="en-US" sz="3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exercising software with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c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ases"</a:t>
            </a:r>
            <a:endParaRPr/>
          </a:p>
        </p:txBody>
      </p:sp>
      <p:sp>
        <p:nvSpPr>
          <p:cNvPr id="113" name="Google Shape;113;p10"/>
          <p:cNvSpPr txBox="1"/>
          <p:nvPr/>
        </p:nvSpPr>
        <p:spPr>
          <a:xfrm>
            <a:off x="550027" y="3383450"/>
            <a:ext cx="5582920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78232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▪"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test has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distinct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goals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514983" lvl="0" marL="527685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arenR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lang="en-US" sz="2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find failures </a:t>
            </a: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  <a:p>
            <a:pPr indent="-514983" lvl="0" marL="527685" marR="0" rtl="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arenR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Demonstrate </a:t>
            </a:r>
            <a:r>
              <a:rPr lang="en-US" sz="2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correct execution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Definitions – Test</a:t>
            </a:r>
            <a:endParaRPr/>
          </a:p>
        </p:txBody>
      </p:sp>
      <p:sp>
        <p:nvSpPr>
          <p:cNvPr id="116" name="Google Shape;116;p10"/>
          <p:cNvSpPr/>
          <p:nvPr/>
        </p:nvSpPr>
        <p:spPr>
          <a:xfrm>
            <a:off x="8237220" y="5273041"/>
            <a:ext cx="1783079" cy="96011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 txBox="1"/>
          <p:nvPr/>
        </p:nvSpPr>
        <p:spPr>
          <a:xfrm>
            <a:off x="8917692" y="5624179"/>
            <a:ext cx="42418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0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10"/>
          <p:cNvSpPr/>
          <p:nvPr/>
        </p:nvSpPr>
        <p:spPr>
          <a:xfrm>
            <a:off x="667653" y="5354312"/>
            <a:ext cx="164083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[IEEE]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/>
          <p:nvPr/>
        </p:nvSpPr>
        <p:spPr>
          <a:xfrm>
            <a:off x="90298" y="1208066"/>
            <a:ext cx="11949301" cy="264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28130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case has an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identity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is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associated with a program behavior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37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oto Sans Symbols"/>
              <a:buNone/>
            </a:pPr>
            <a:r>
              <a:t/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508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test case also has a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set of inputs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a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list of expected outputs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Definitions – Test Case</a:t>
            </a:r>
            <a:endParaRPr/>
          </a:p>
        </p:txBody>
      </p:sp>
      <p:sp>
        <p:nvSpPr>
          <p:cNvPr id="127" name="Google Shape;127;p11"/>
          <p:cNvSpPr/>
          <p:nvPr/>
        </p:nvSpPr>
        <p:spPr>
          <a:xfrm>
            <a:off x="7952233" y="4703064"/>
            <a:ext cx="1783079" cy="9601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 txBox="1"/>
          <p:nvPr/>
        </p:nvSpPr>
        <p:spPr>
          <a:xfrm>
            <a:off x="8349239" y="5053949"/>
            <a:ext cx="98869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Case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1"/>
          <p:cNvSpPr/>
          <p:nvPr/>
        </p:nvSpPr>
        <p:spPr>
          <a:xfrm>
            <a:off x="667653" y="5354312"/>
            <a:ext cx="164083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[IEEE]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 of a Test Case</a:t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7952233" y="4703064"/>
            <a:ext cx="1783079" cy="9601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8349239" y="5053949"/>
            <a:ext cx="98869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Case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2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2"/>
          <p:cNvSpPr/>
          <p:nvPr/>
        </p:nvSpPr>
        <p:spPr>
          <a:xfrm>
            <a:off x="667653" y="5354312"/>
            <a:ext cx="164083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[IEEE]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2"/>
          <p:cNvSpPr txBox="1"/>
          <p:nvPr/>
        </p:nvSpPr>
        <p:spPr>
          <a:xfrm>
            <a:off x="491550" y="1179675"/>
            <a:ext cx="11700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9334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"Boilerplate": Author, Date, Purpose, Test Case ID</a:t>
            </a:r>
            <a:endParaRPr/>
          </a:p>
          <a:p>
            <a:pPr indent="-342900" lvl="0" marL="355600" marR="9334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Pre-Conditions (including environment)</a:t>
            </a:r>
            <a:endParaRPr sz="2000">
              <a:solidFill>
                <a:schemeClr val="dk1"/>
              </a:solidFill>
            </a:endParaRPr>
          </a:p>
          <a:p>
            <a:pPr indent="-457200" lvl="2" marL="1371600" marR="9334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■"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Inputs</a:t>
            </a:r>
            <a:endParaRPr/>
          </a:p>
          <a:p>
            <a:pPr indent="-457200" lvl="2" marL="1371600" marR="9334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■"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Expected Outputs</a:t>
            </a:r>
            <a:endParaRPr/>
          </a:p>
          <a:p>
            <a:pPr indent="-457200" lvl="2" marL="1371600" marR="9334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■"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Observed Outputs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S/W Testing lifecycle phases</a:t>
            </a:r>
            <a:endParaRPr/>
          </a:p>
        </p:txBody>
      </p:sp>
      <p:sp>
        <p:nvSpPr>
          <p:cNvPr id="147" name="Google Shape;147;p13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1219200" y="6248400"/>
            <a:ext cx="9448800" cy="2267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10972800" y="5943600"/>
            <a:ext cx="12192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228600" y="12756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Requirements study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Analysis and planning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Case Design and Development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Execution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Closure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Process Analysis</a:t>
            </a:r>
            <a:endParaRPr/>
          </a:p>
          <a:p>
            <a:pPr indent="-571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Requirements study</a:t>
            </a:r>
            <a:endParaRPr/>
          </a:p>
        </p:txBody>
      </p:sp>
      <p:sp>
        <p:nvSpPr>
          <p:cNvPr id="156" name="Google Shape;156;p14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14"/>
          <p:cNvSpPr/>
          <p:nvPr/>
        </p:nvSpPr>
        <p:spPr>
          <a:xfrm>
            <a:off x="1219200" y="6248400"/>
            <a:ext cx="9448800" cy="2267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10972800" y="5943600"/>
            <a:ext cx="12192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13252" y="1524000"/>
            <a:ext cx="12026348" cy="1678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Cycle starts with the study of client’s requirements.</a:t>
            </a:r>
            <a:endParaRPr/>
          </a:p>
          <a:p>
            <a:pPr indent="-254000" lvl="0" marL="4572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of the requirements is very essential for testing the product – Why?.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Analysis &amp; Planning</a:t>
            </a:r>
            <a:endParaRPr/>
          </a:p>
        </p:txBody>
      </p:sp>
      <p:sp>
        <p:nvSpPr>
          <p:cNvPr id="165" name="Google Shape;165;p15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1219200" y="6248400"/>
            <a:ext cx="9448800" cy="2267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10972800" y="5943600"/>
            <a:ext cx="12192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710925" y="990600"/>
            <a:ext cx="11146500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</a:t>
            </a: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coverage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</a:t>
            </a: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Standards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Methodologies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required, including necessary </a:t>
            </a: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responsibilities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team members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-9939" y="915262"/>
            <a:ext cx="8087139" cy="4494937"/>
          </a:xfrm>
          <a:prstGeom prst="ellipse">
            <a:avLst/>
          </a:prstGeom>
          <a:solidFill>
            <a:srgbClr val="FDE9D8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Test Case Design and Development </a:t>
            </a:r>
            <a:endParaRPr/>
          </a:p>
        </p:txBody>
      </p:sp>
      <p:sp>
        <p:nvSpPr>
          <p:cNvPr id="175" name="Google Shape;175;p16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1219200" y="6248400"/>
            <a:ext cx="9448800" cy="2267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10972800" y="5943600"/>
            <a:ext cx="12192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506351" y="2160898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 Identification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Specification Design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Specification Review</a:t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7239000" y="3915224"/>
            <a:ext cx="3429000" cy="17526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Maximize the Coverage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Test Execution</a:t>
            </a:r>
            <a:endParaRPr/>
          </a:p>
        </p:txBody>
      </p:sp>
      <p:sp>
        <p:nvSpPr>
          <p:cNvPr id="185" name="Google Shape;185;p17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1219200" y="6248400"/>
            <a:ext cx="9448800" cy="2267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10972800" y="5943600"/>
            <a:ext cx="12192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94316" y="2209800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Review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execution and evaluation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and simulation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Test Closure</a:t>
            </a:r>
            <a:endParaRPr/>
          </a:p>
        </p:txBody>
      </p:sp>
      <p:sp>
        <p:nvSpPr>
          <p:cNvPr id="194" name="Google Shape;194;p18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1219200" y="6248400"/>
            <a:ext cx="9448800" cy="2267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10972800" y="5943600"/>
            <a:ext cx="12192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304254" y="1676400"/>
            <a:ext cx="922074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summary report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De-brief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⮚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Documentation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Test Process Analysis</a:t>
            </a:r>
            <a:endParaRPr/>
          </a:p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1219200" y="6248400"/>
            <a:ext cx="9448800" cy="2267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10972800" y="5943600"/>
            <a:ext cx="12192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46150" y="1371600"/>
            <a:ext cx="11018100" cy="27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reports </a:t>
            </a:r>
            <a:endParaRPr/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improve the application’s performance by implementing new technology and additional features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 txBox="1"/>
          <p:nvPr>
            <p:ph type="title"/>
          </p:nvPr>
        </p:nvSpPr>
        <p:spPr>
          <a:xfrm>
            <a:off x="76201" y="213236"/>
            <a:ext cx="11404864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 Strategy for Testing Conventional Software</a:t>
            </a:r>
            <a:endParaRPr/>
          </a:p>
        </p:txBody>
      </p:sp>
      <p:sp>
        <p:nvSpPr>
          <p:cNvPr id="212" name="Google Shape;212;p20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1308099" y="6195631"/>
            <a:ext cx="9448800" cy="2267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10972800" y="5943600"/>
            <a:ext cx="12192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20"/>
          <p:cNvGrpSpPr/>
          <p:nvPr/>
        </p:nvGrpSpPr>
        <p:grpSpPr>
          <a:xfrm>
            <a:off x="1981200" y="1209789"/>
            <a:ext cx="7620000" cy="5343411"/>
            <a:chOff x="1152" y="1536"/>
            <a:chExt cx="3600" cy="2208"/>
          </a:xfrm>
        </p:grpSpPr>
        <p:sp>
          <p:nvSpPr>
            <p:cNvPr id="216" name="Google Shape;216;p20"/>
            <p:cNvSpPr/>
            <p:nvPr/>
          </p:nvSpPr>
          <p:spPr>
            <a:xfrm>
              <a:off x="1152" y="1536"/>
              <a:ext cx="3600" cy="2208"/>
            </a:xfrm>
            <a:prstGeom prst="ellipse">
              <a:avLst/>
            </a:prstGeom>
            <a:solidFill>
              <a:srgbClr val="FF99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1488" y="1776"/>
              <a:ext cx="2976" cy="1680"/>
            </a:xfrm>
            <a:prstGeom prst="ellipse">
              <a:avLst/>
            </a:prstGeom>
            <a:solidFill>
              <a:srgbClr val="FFCC9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1728" y="2016"/>
              <a:ext cx="2496" cy="1152"/>
            </a:xfrm>
            <a:prstGeom prst="ellipse">
              <a:avLst/>
            </a:prstGeom>
            <a:solidFill>
              <a:srgbClr val="FFFF9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2034" y="2232"/>
              <a:ext cx="1920" cy="720"/>
            </a:xfrm>
            <a:prstGeom prst="ellipse">
              <a:avLst/>
            </a:prstGeom>
            <a:solidFill>
              <a:srgbClr val="CCFF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" name="Google Shape;220;p20"/>
            <p:cNvCxnSpPr/>
            <p:nvPr/>
          </p:nvCxnSpPr>
          <p:spPr>
            <a:xfrm>
              <a:off x="1200" y="2640"/>
              <a:ext cx="355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21" name="Google Shape;221;p20"/>
          <p:cNvSpPr txBox="1"/>
          <p:nvPr/>
        </p:nvSpPr>
        <p:spPr>
          <a:xfrm>
            <a:off x="5531287" y="3989065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5393095" y="4713234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5136458" y="5238011"/>
            <a:ext cx="15654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4842627" y="5922735"/>
            <a:ext cx="21531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Engineering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 rot="-2959130">
            <a:off x="2671668" y="4556772"/>
            <a:ext cx="2685680" cy="1219200"/>
          </a:xfrm>
          <a:prstGeom prst="rightArrow">
            <a:avLst>
              <a:gd fmla="val 50000" name="adj1"/>
              <a:gd fmla="val 39063" name="adj2"/>
            </a:avLst>
          </a:prstGeom>
          <a:solidFill>
            <a:srgbClr val="CC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concrete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4795832" y="1951203"/>
            <a:ext cx="19656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Testing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4759347" y="2495154"/>
            <a:ext cx="20637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Testing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5340483" y="3471105"/>
            <a:ext cx="13840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Testing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4951965" y="1291469"/>
            <a:ext cx="16533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Testing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 rot="-2959130">
            <a:off x="6450841" y="1710935"/>
            <a:ext cx="2685680" cy="1219200"/>
          </a:xfrm>
          <a:prstGeom prst="rightArrow">
            <a:avLst>
              <a:gd fmla="val 50000" name="adj1"/>
              <a:gd fmla="val 39063" name="adj2"/>
            </a:avLst>
          </a:prstGeom>
          <a:solidFill>
            <a:srgbClr val="CC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Narrow to Broader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Scope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/>
        </p:nvSpPr>
        <p:spPr>
          <a:xfrm>
            <a:off x="72075" y="1157687"/>
            <a:ext cx="9148125" cy="429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2222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the pen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write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right color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the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right line thickness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indent="-342900" lvl="0" marL="355600" marR="1040130" rtl="0" algn="just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logo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the pen according to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company standards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indent="-342900" lvl="0" marL="355600" marR="0" rtl="0" algn="just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it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safe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chew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the pen?</a:t>
            </a:r>
            <a:endParaRPr/>
          </a:p>
          <a:p>
            <a:pPr indent="-342900" lvl="0" marL="355600" marR="5080" rtl="0" algn="just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the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click-mechanism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still work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after 100 000 clicks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indent="-342900" lvl="0" marL="355600" marR="83185" rtl="0" algn="just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it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still write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a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car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run over it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a Ballpoint Pen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9448800" y="1676400"/>
            <a:ext cx="2443743" cy="3886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 txBox="1"/>
          <p:nvPr/>
        </p:nvSpPr>
        <p:spPr>
          <a:xfrm>
            <a:off x="2059940" y="1542814"/>
            <a:ext cx="7233920" cy="2487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5080" rtl="0" algn="l">
              <a:spcBef>
                <a:spcPts val="0"/>
              </a:spcBef>
              <a:spcAft>
                <a:spcPts val="0"/>
              </a:spcAft>
              <a:buClr>
                <a:srgbClr val="BEBEBE"/>
              </a:buClr>
              <a:buSzPts val="3000"/>
              <a:buFont typeface="Noto Sans Symbols"/>
              <a:buChar char="▪"/>
            </a:pPr>
            <a:r>
              <a:rPr lang="en-US" sz="3000">
                <a:solidFill>
                  <a:srgbClr val="BEBEBE"/>
                </a:solidFill>
                <a:latin typeface="Arial"/>
                <a:ea typeface="Arial"/>
                <a:cs typeface="Arial"/>
                <a:sym typeface="Arial"/>
              </a:rPr>
              <a:t>Does the pen write in the right color, with the right line thickness?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1024255" rtl="0" algn="l">
              <a:spcBef>
                <a:spcPts val="720"/>
              </a:spcBef>
              <a:spcAft>
                <a:spcPts val="0"/>
              </a:spcAft>
              <a:buClr>
                <a:srgbClr val="BEBEBE"/>
              </a:buClr>
              <a:buSzPts val="3000"/>
              <a:buFont typeface="Noto Sans Symbols"/>
              <a:buChar char="▪"/>
            </a:pPr>
            <a:r>
              <a:rPr lang="en-US" sz="3000">
                <a:solidFill>
                  <a:srgbClr val="BEBEBE"/>
                </a:solidFill>
                <a:latin typeface="Arial"/>
                <a:ea typeface="Arial"/>
                <a:cs typeface="Arial"/>
                <a:sym typeface="Arial"/>
              </a:rPr>
              <a:t>Is the logo on the pen according to company standards?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0" rtl="0" algn="l">
              <a:spcBef>
                <a:spcPts val="720"/>
              </a:spcBef>
              <a:spcAft>
                <a:spcPts val="0"/>
              </a:spcAft>
              <a:buClr>
                <a:srgbClr val="BEBEBE"/>
              </a:buClr>
              <a:buSzPts val="3000"/>
              <a:buFont typeface="Noto Sans Symbols"/>
              <a:buChar char="▪"/>
            </a:pPr>
            <a:r>
              <a:rPr lang="en-US" sz="3000">
                <a:solidFill>
                  <a:srgbClr val="BEBEBE"/>
                </a:solidFill>
                <a:latin typeface="Arial"/>
                <a:ea typeface="Arial"/>
                <a:cs typeface="Arial"/>
                <a:sym typeface="Arial"/>
              </a:rPr>
              <a:t>Is it safe to chew on the pen?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2059941" y="4103771"/>
            <a:ext cx="51060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BEBEBE"/>
              </a:buClr>
              <a:buSzPts val="3000"/>
              <a:buFont typeface="Noto Sans Symbols"/>
              <a:buChar char="▪"/>
            </a:pPr>
            <a:r>
              <a:rPr lang="en-US" sz="3000">
                <a:solidFill>
                  <a:srgbClr val="BEBEBE"/>
                </a:solidFill>
                <a:latin typeface="Arial"/>
                <a:ea typeface="Arial"/>
                <a:cs typeface="Arial"/>
                <a:sym typeface="Arial"/>
              </a:rPr>
              <a:t>Does the click-mechanism 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7010400" y="4126540"/>
            <a:ext cx="341376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422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BEBEBE"/>
                </a:solidFill>
                <a:latin typeface="Arial"/>
                <a:ea typeface="Arial"/>
                <a:cs typeface="Arial"/>
                <a:sym typeface="Arial"/>
              </a:rPr>
              <a:t>till work after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2059940" y="4571040"/>
            <a:ext cx="7171690" cy="1474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BEBEBE"/>
                </a:solidFill>
                <a:latin typeface="Arial"/>
                <a:ea typeface="Arial"/>
                <a:cs typeface="Arial"/>
                <a:sym typeface="Arial"/>
              </a:rPr>
              <a:t>100 000 clicks?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5080" rtl="0" algn="l">
              <a:spcBef>
                <a:spcPts val="720"/>
              </a:spcBef>
              <a:spcAft>
                <a:spcPts val="0"/>
              </a:spcAft>
              <a:buClr>
                <a:srgbClr val="BEBEBE"/>
              </a:buClr>
              <a:buSzPts val="3000"/>
              <a:buFont typeface="Noto Sans Symbols"/>
              <a:buChar char="▪"/>
            </a:pPr>
            <a:r>
              <a:rPr lang="en-US" sz="3000">
                <a:solidFill>
                  <a:srgbClr val="BEBEBE"/>
                </a:solidFill>
                <a:latin typeface="Arial"/>
                <a:ea typeface="Arial"/>
                <a:cs typeface="Arial"/>
                <a:sym typeface="Arial"/>
              </a:rPr>
              <a:t>Does it still write after a car has run over it?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a Ballpoint Pen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9342120" y="2209800"/>
            <a:ext cx="822959" cy="169773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1848112" y="1275954"/>
            <a:ext cx="5483860" cy="3037205"/>
          </a:xfrm>
          <a:custGeom>
            <a:rect b="b" l="l" r="r" t="t"/>
            <a:pathLst>
              <a:path extrusionOk="0" h="3037204" w="5483860">
                <a:moveTo>
                  <a:pt x="5235195" y="0"/>
                </a:moveTo>
                <a:lnTo>
                  <a:pt x="0" y="2520574"/>
                </a:lnTo>
                <a:lnTo>
                  <a:pt x="248460" y="3036585"/>
                </a:lnTo>
                <a:lnTo>
                  <a:pt x="5483729" y="516026"/>
                </a:lnTo>
                <a:lnTo>
                  <a:pt x="5235195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1848112" y="1275954"/>
            <a:ext cx="5483860" cy="3037205"/>
          </a:xfrm>
          <a:custGeom>
            <a:rect b="b" l="l" r="r" t="t"/>
            <a:pathLst>
              <a:path extrusionOk="0" h="3037204" w="5483860">
                <a:moveTo>
                  <a:pt x="0" y="2520574"/>
                </a:moveTo>
                <a:lnTo>
                  <a:pt x="5235195" y="0"/>
                </a:lnTo>
                <a:lnTo>
                  <a:pt x="5483729" y="516026"/>
                </a:lnTo>
                <a:lnTo>
                  <a:pt x="248460" y="3036585"/>
                </a:lnTo>
                <a:lnTo>
                  <a:pt x="0" y="2520574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2081297" y="1993149"/>
            <a:ext cx="4123547" cy="206450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6271017" y="1516091"/>
            <a:ext cx="747395" cy="640080"/>
          </a:xfrm>
          <a:custGeom>
            <a:rect b="b" l="l" r="r" t="t"/>
            <a:pathLst>
              <a:path extrusionOk="0" h="640080" w="747395">
                <a:moveTo>
                  <a:pt x="27431" y="380282"/>
                </a:moveTo>
                <a:lnTo>
                  <a:pt x="0" y="393480"/>
                </a:lnTo>
                <a:lnTo>
                  <a:pt x="118475" y="639728"/>
                </a:lnTo>
                <a:lnTo>
                  <a:pt x="148711" y="625128"/>
                </a:lnTo>
                <a:lnTo>
                  <a:pt x="113747" y="541325"/>
                </a:lnTo>
                <a:lnTo>
                  <a:pt x="156944" y="541325"/>
                </a:lnTo>
                <a:lnTo>
                  <a:pt x="165641" y="537990"/>
                </a:lnTo>
                <a:lnTo>
                  <a:pt x="175184" y="532266"/>
                </a:lnTo>
                <a:lnTo>
                  <a:pt x="184164" y="524671"/>
                </a:lnTo>
                <a:lnTo>
                  <a:pt x="189161" y="518969"/>
                </a:lnTo>
                <a:lnTo>
                  <a:pt x="130055" y="518969"/>
                </a:lnTo>
                <a:lnTo>
                  <a:pt x="117669" y="516872"/>
                </a:lnTo>
                <a:lnTo>
                  <a:pt x="86010" y="495559"/>
                </a:lnTo>
                <a:lnTo>
                  <a:pt x="65036" y="457377"/>
                </a:lnTo>
                <a:lnTo>
                  <a:pt x="58723" y="421027"/>
                </a:lnTo>
                <a:lnTo>
                  <a:pt x="60349" y="410164"/>
                </a:lnTo>
                <a:lnTo>
                  <a:pt x="62789" y="403386"/>
                </a:lnTo>
                <a:lnTo>
                  <a:pt x="38587" y="403386"/>
                </a:lnTo>
                <a:lnTo>
                  <a:pt x="27431" y="380282"/>
                </a:lnTo>
                <a:close/>
              </a:path>
              <a:path extrusionOk="0" h="640080" w="747395">
                <a:moveTo>
                  <a:pt x="156944" y="541325"/>
                </a:moveTo>
                <a:lnTo>
                  <a:pt x="113747" y="541325"/>
                </a:lnTo>
                <a:lnTo>
                  <a:pt x="125251" y="543934"/>
                </a:lnTo>
                <a:lnTo>
                  <a:pt x="140779" y="545006"/>
                </a:lnTo>
                <a:lnTo>
                  <a:pt x="152929" y="542865"/>
                </a:lnTo>
                <a:lnTo>
                  <a:pt x="156944" y="541325"/>
                </a:lnTo>
                <a:close/>
              </a:path>
              <a:path extrusionOk="0" h="640080" w="747395">
                <a:moveTo>
                  <a:pt x="172965" y="372225"/>
                </a:moveTo>
                <a:lnTo>
                  <a:pt x="106102" y="372225"/>
                </a:lnTo>
                <a:lnTo>
                  <a:pt x="118493" y="374527"/>
                </a:lnTo>
                <a:lnTo>
                  <a:pt x="132861" y="380252"/>
                </a:lnTo>
                <a:lnTo>
                  <a:pt x="163243" y="417912"/>
                </a:lnTo>
                <a:lnTo>
                  <a:pt x="178006" y="460046"/>
                </a:lnTo>
                <a:lnTo>
                  <a:pt x="178322" y="471263"/>
                </a:lnTo>
                <a:lnTo>
                  <a:pt x="176732" y="481637"/>
                </a:lnTo>
                <a:lnTo>
                  <a:pt x="141101" y="518004"/>
                </a:lnTo>
                <a:lnTo>
                  <a:pt x="130055" y="518969"/>
                </a:lnTo>
                <a:lnTo>
                  <a:pt x="189161" y="518969"/>
                </a:lnTo>
                <a:lnTo>
                  <a:pt x="208546" y="480478"/>
                </a:lnTo>
                <a:lnTo>
                  <a:pt x="209907" y="466807"/>
                </a:lnTo>
                <a:lnTo>
                  <a:pt x="209840" y="450347"/>
                </a:lnTo>
                <a:lnTo>
                  <a:pt x="193381" y="400161"/>
                </a:lnTo>
                <a:lnTo>
                  <a:pt x="179841" y="379936"/>
                </a:lnTo>
                <a:lnTo>
                  <a:pt x="172965" y="372225"/>
                </a:lnTo>
                <a:close/>
              </a:path>
              <a:path extrusionOk="0" h="640080" w="747395">
                <a:moveTo>
                  <a:pt x="112083" y="342975"/>
                </a:moveTo>
                <a:lnTo>
                  <a:pt x="74846" y="352496"/>
                </a:lnTo>
                <a:lnTo>
                  <a:pt x="46860" y="378751"/>
                </a:lnTo>
                <a:lnTo>
                  <a:pt x="38587" y="403386"/>
                </a:lnTo>
                <a:lnTo>
                  <a:pt x="62789" y="403386"/>
                </a:lnTo>
                <a:lnTo>
                  <a:pt x="64458" y="398752"/>
                </a:lnTo>
                <a:lnTo>
                  <a:pt x="71034" y="388968"/>
                </a:lnTo>
                <a:lnTo>
                  <a:pt x="80963" y="380500"/>
                </a:lnTo>
                <a:lnTo>
                  <a:pt x="95129" y="373037"/>
                </a:lnTo>
                <a:lnTo>
                  <a:pt x="106102" y="372225"/>
                </a:lnTo>
                <a:lnTo>
                  <a:pt x="172965" y="372225"/>
                </a:lnTo>
                <a:lnTo>
                  <a:pt x="171172" y="370214"/>
                </a:lnTo>
                <a:lnTo>
                  <a:pt x="160895" y="360465"/>
                </a:lnTo>
                <a:lnTo>
                  <a:pt x="151626" y="354219"/>
                </a:lnTo>
                <a:lnTo>
                  <a:pt x="140874" y="349266"/>
                </a:lnTo>
                <a:lnTo>
                  <a:pt x="127929" y="345541"/>
                </a:lnTo>
                <a:lnTo>
                  <a:pt x="112083" y="342975"/>
                </a:lnTo>
                <a:close/>
              </a:path>
              <a:path extrusionOk="0" h="640080" w="747395">
                <a:moveTo>
                  <a:pt x="304293" y="253096"/>
                </a:moveTo>
                <a:lnTo>
                  <a:pt x="252737" y="267383"/>
                </a:lnTo>
                <a:lnTo>
                  <a:pt x="224657" y="293593"/>
                </a:lnTo>
                <a:lnTo>
                  <a:pt x="210224" y="338284"/>
                </a:lnTo>
                <a:lnTo>
                  <a:pt x="210619" y="349614"/>
                </a:lnTo>
                <a:lnTo>
                  <a:pt x="220531" y="387628"/>
                </a:lnTo>
                <a:lnTo>
                  <a:pt x="241923" y="425088"/>
                </a:lnTo>
                <a:lnTo>
                  <a:pt x="281697" y="454133"/>
                </a:lnTo>
                <a:lnTo>
                  <a:pt x="304578" y="458591"/>
                </a:lnTo>
                <a:lnTo>
                  <a:pt x="316491" y="458278"/>
                </a:lnTo>
                <a:lnTo>
                  <a:pt x="354486" y="446944"/>
                </a:lnTo>
                <a:lnTo>
                  <a:pt x="380653" y="428566"/>
                </a:lnTo>
                <a:lnTo>
                  <a:pt x="319809" y="428566"/>
                </a:lnTo>
                <a:lnTo>
                  <a:pt x="307595" y="427851"/>
                </a:lnTo>
                <a:lnTo>
                  <a:pt x="266492" y="400647"/>
                </a:lnTo>
                <a:lnTo>
                  <a:pt x="258561" y="388146"/>
                </a:lnTo>
                <a:lnTo>
                  <a:pt x="311873" y="362482"/>
                </a:lnTo>
                <a:lnTo>
                  <a:pt x="248290" y="362482"/>
                </a:lnTo>
                <a:lnTo>
                  <a:pt x="245178" y="353358"/>
                </a:lnTo>
                <a:lnTo>
                  <a:pt x="242991" y="340962"/>
                </a:lnTo>
                <a:lnTo>
                  <a:pt x="243353" y="328875"/>
                </a:lnTo>
                <a:lnTo>
                  <a:pt x="269268" y="290904"/>
                </a:lnTo>
                <a:lnTo>
                  <a:pt x="296493" y="281424"/>
                </a:lnTo>
                <a:lnTo>
                  <a:pt x="364062" y="281424"/>
                </a:lnTo>
                <a:lnTo>
                  <a:pt x="358887" y="276178"/>
                </a:lnTo>
                <a:lnTo>
                  <a:pt x="349083" y="268475"/>
                </a:lnTo>
                <a:lnTo>
                  <a:pt x="338130" y="261927"/>
                </a:lnTo>
                <a:lnTo>
                  <a:pt x="325900" y="256492"/>
                </a:lnTo>
                <a:lnTo>
                  <a:pt x="315283" y="254009"/>
                </a:lnTo>
                <a:lnTo>
                  <a:pt x="304293" y="253096"/>
                </a:lnTo>
                <a:close/>
              </a:path>
              <a:path extrusionOk="0" h="640080" w="747395">
                <a:moveTo>
                  <a:pt x="403859" y="352454"/>
                </a:moveTo>
                <a:lnTo>
                  <a:pt x="370819" y="363640"/>
                </a:lnTo>
                <a:lnTo>
                  <a:pt x="371101" y="366871"/>
                </a:lnTo>
                <a:lnTo>
                  <a:pt x="371028" y="379719"/>
                </a:lnTo>
                <a:lnTo>
                  <a:pt x="347061" y="418749"/>
                </a:lnTo>
                <a:lnTo>
                  <a:pt x="319809" y="428566"/>
                </a:lnTo>
                <a:lnTo>
                  <a:pt x="380653" y="428566"/>
                </a:lnTo>
                <a:lnTo>
                  <a:pt x="403352" y="390702"/>
                </a:lnTo>
                <a:lnTo>
                  <a:pt x="405492" y="365811"/>
                </a:lnTo>
                <a:lnTo>
                  <a:pt x="403859" y="352454"/>
                </a:lnTo>
                <a:close/>
              </a:path>
              <a:path extrusionOk="0" h="640080" w="747395">
                <a:moveTo>
                  <a:pt x="408797" y="196640"/>
                </a:moveTo>
                <a:lnTo>
                  <a:pt x="381761" y="209716"/>
                </a:lnTo>
                <a:lnTo>
                  <a:pt x="467350" y="387628"/>
                </a:lnTo>
                <a:lnTo>
                  <a:pt x="497585" y="373150"/>
                </a:lnTo>
                <a:lnTo>
                  <a:pt x="447075" y="267870"/>
                </a:lnTo>
                <a:lnTo>
                  <a:pt x="442391" y="254353"/>
                </a:lnTo>
                <a:lnTo>
                  <a:pt x="440115" y="242198"/>
                </a:lnTo>
                <a:lnTo>
                  <a:pt x="440292" y="231311"/>
                </a:lnTo>
                <a:lnTo>
                  <a:pt x="442878" y="221908"/>
                </a:lnTo>
                <a:lnTo>
                  <a:pt x="420989" y="221908"/>
                </a:lnTo>
                <a:lnTo>
                  <a:pt x="408797" y="196640"/>
                </a:lnTo>
                <a:close/>
              </a:path>
              <a:path extrusionOk="0" h="640080" w="747395">
                <a:moveTo>
                  <a:pt x="364062" y="281424"/>
                </a:moveTo>
                <a:lnTo>
                  <a:pt x="296493" y="281424"/>
                </a:lnTo>
                <a:lnTo>
                  <a:pt x="308616" y="282634"/>
                </a:lnTo>
                <a:lnTo>
                  <a:pt x="321034" y="286880"/>
                </a:lnTo>
                <a:lnTo>
                  <a:pt x="330326" y="293119"/>
                </a:lnTo>
                <a:lnTo>
                  <a:pt x="339171" y="302363"/>
                </a:lnTo>
                <a:lnTo>
                  <a:pt x="347593" y="314598"/>
                </a:lnTo>
                <a:lnTo>
                  <a:pt x="248290" y="362482"/>
                </a:lnTo>
                <a:lnTo>
                  <a:pt x="311873" y="362482"/>
                </a:lnTo>
                <a:lnTo>
                  <a:pt x="391271" y="324260"/>
                </a:lnTo>
                <a:lnTo>
                  <a:pt x="389625" y="320572"/>
                </a:lnTo>
                <a:lnTo>
                  <a:pt x="388498" y="317920"/>
                </a:lnTo>
                <a:lnTo>
                  <a:pt x="382652" y="306627"/>
                </a:lnTo>
                <a:lnTo>
                  <a:pt x="375545" y="295213"/>
                </a:lnTo>
                <a:lnTo>
                  <a:pt x="367666" y="285077"/>
                </a:lnTo>
                <a:lnTo>
                  <a:pt x="364062" y="281424"/>
                </a:lnTo>
                <a:close/>
              </a:path>
              <a:path extrusionOk="0" h="640080" w="747395">
                <a:moveTo>
                  <a:pt x="549044" y="189142"/>
                </a:moveTo>
                <a:lnTo>
                  <a:pt x="485759" y="189142"/>
                </a:lnTo>
                <a:lnTo>
                  <a:pt x="501121" y="190666"/>
                </a:lnTo>
                <a:lnTo>
                  <a:pt x="507735" y="193440"/>
                </a:lnTo>
                <a:lnTo>
                  <a:pt x="515801" y="201377"/>
                </a:lnTo>
                <a:lnTo>
                  <a:pt x="522623" y="210975"/>
                </a:lnTo>
                <a:lnTo>
                  <a:pt x="529711" y="224316"/>
                </a:lnTo>
                <a:lnTo>
                  <a:pt x="581893" y="332520"/>
                </a:lnTo>
                <a:lnTo>
                  <a:pt x="612007" y="318042"/>
                </a:lnTo>
                <a:lnTo>
                  <a:pt x="553055" y="196025"/>
                </a:lnTo>
                <a:lnTo>
                  <a:pt x="549044" y="189142"/>
                </a:lnTo>
                <a:close/>
              </a:path>
              <a:path extrusionOk="0" h="640080" w="747395">
                <a:moveTo>
                  <a:pt x="730757" y="218586"/>
                </a:moveTo>
                <a:lnTo>
                  <a:pt x="696346" y="235106"/>
                </a:lnTo>
                <a:lnTo>
                  <a:pt x="712957" y="269518"/>
                </a:lnTo>
                <a:lnTo>
                  <a:pt x="747247" y="252876"/>
                </a:lnTo>
                <a:lnTo>
                  <a:pt x="730757" y="218586"/>
                </a:lnTo>
                <a:close/>
              </a:path>
              <a:path extrusionOk="0" h="640080" w="747395">
                <a:moveTo>
                  <a:pt x="493200" y="157046"/>
                </a:moveTo>
                <a:lnTo>
                  <a:pt x="456202" y="169195"/>
                </a:lnTo>
                <a:lnTo>
                  <a:pt x="429013" y="196828"/>
                </a:lnTo>
                <a:lnTo>
                  <a:pt x="420989" y="221908"/>
                </a:lnTo>
                <a:lnTo>
                  <a:pt x="442878" y="221908"/>
                </a:lnTo>
                <a:lnTo>
                  <a:pt x="442963" y="221600"/>
                </a:lnTo>
                <a:lnTo>
                  <a:pt x="449547" y="210525"/>
                </a:lnTo>
                <a:lnTo>
                  <a:pt x="458487" y="201494"/>
                </a:lnTo>
                <a:lnTo>
                  <a:pt x="469757" y="194476"/>
                </a:lnTo>
                <a:lnTo>
                  <a:pt x="477895" y="190666"/>
                </a:lnTo>
                <a:lnTo>
                  <a:pt x="485759" y="189142"/>
                </a:lnTo>
                <a:lnTo>
                  <a:pt x="549044" y="189142"/>
                </a:lnTo>
                <a:lnTo>
                  <a:pt x="546849" y="185375"/>
                </a:lnTo>
                <a:lnTo>
                  <a:pt x="540046" y="175885"/>
                </a:lnTo>
                <a:lnTo>
                  <a:pt x="531278" y="167780"/>
                </a:lnTo>
                <a:lnTo>
                  <a:pt x="519243" y="160306"/>
                </a:lnTo>
                <a:lnTo>
                  <a:pt x="507900" y="157449"/>
                </a:lnTo>
                <a:lnTo>
                  <a:pt x="493200" y="157046"/>
                </a:lnTo>
                <a:close/>
              </a:path>
              <a:path extrusionOk="0" h="640080" w="747395">
                <a:moveTo>
                  <a:pt x="715424" y="30479"/>
                </a:moveTo>
                <a:lnTo>
                  <a:pt x="651253" y="30479"/>
                </a:lnTo>
                <a:lnTo>
                  <a:pt x="663978" y="33316"/>
                </a:lnTo>
                <a:lnTo>
                  <a:pt x="675511" y="39122"/>
                </a:lnTo>
                <a:lnTo>
                  <a:pt x="684812" y="47552"/>
                </a:lnTo>
                <a:lnTo>
                  <a:pt x="692083" y="59061"/>
                </a:lnTo>
                <a:lnTo>
                  <a:pt x="694538" y="69242"/>
                </a:lnTo>
                <a:lnTo>
                  <a:pt x="693971" y="84589"/>
                </a:lnTo>
                <a:lnTo>
                  <a:pt x="690419" y="96199"/>
                </a:lnTo>
                <a:lnTo>
                  <a:pt x="684340" y="111800"/>
                </a:lnTo>
                <a:lnTo>
                  <a:pt x="679499" y="123981"/>
                </a:lnTo>
                <a:lnTo>
                  <a:pt x="675595" y="135494"/>
                </a:lnTo>
                <a:lnTo>
                  <a:pt x="672409" y="147672"/>
                </a:lnTo>
                <a:lnTo>
                  <a:pt x="671529" y="159153"/>
                </a:lnTo>
                <a:lnTo>
                  <a:pt x="672513" y="174347"/>
                </a:lnTo>
                <a:lnTo>
                  <a:pt x="675814" y="186402"/>
                </a:lnTo>
                <a:lnTo>
                  <a:pt x="681106" y="199170"/>
                </a:lnTo>
                <a:lnTo>
                  <a:pt x="682111" y="201212"/>
                </a:lnTo>
                <a:lnTo>
                  <a:pt x="683635" y="204108"/>
                </a:lnTo>
                <a:lnTo>
                  <a:pt x="685678" y="208070"/>
                </a:lnTo>
                <a:lnTo>
                  <a:pt x="712605" y="189579"/>
                </a:lnTo>
                <a:lnTo>
                  <a:pt x="707325" y="176442"/>
                </a:lnTo>
                <a:lnTo>
                  <a:pt x="704575" y="166770"/>
                </a:lnTo>
                <a:lnTo>
                  <a:pt x="703447" y="160674"/>
                </a:lnTo>
                <a:lnTo>
                  <a:pt x="703325" y="154852"/>
                </a:lnTo>
                <a:lnTo>
                  <a:pt x="704418" y="148839"/>
                </a:lnTo>
                <a:lnTo>
                  <a:pt x="706471" y="141615"/>
                </a:lnTo>
                <a:lnTo>
                  <a:pt x="710644" y="130083"/>
                </a:lnTo>
                <a:lnTo>
                  <a:pt x="717644" y="112557"/>
                </a:lnTo>
                <a:lnTo>
                  <a:pt x="721827" y="100596"/>
                </a:lnTo>
                <a:lnTo>
                  <a:pt x="724923" y="88789"/>
                </a:lnTo>
                <a:lnTo>
                  <a:pt x="726917" y="76525"/>
                </a:lnTo>
                <a:lnTo>
                  <a:pt x="727791" y="63195"/>
                </a:lnTo>
                <a:lnTo>
                  <a:pt x="725360" y="51081"/>
                </a:lnTo>
                <a:lnTo>
                  <a:pt x="720335" y="38372"/>
                </a:lnTo>
                <a:lnTo>
                  <a:pt x="715424" y="30479"/>
                </a:lnTo>
                <a:close/>
              </a:path>
              <a:path extrusionOk="0" h="640080" w="747395">
                <a:moveTo>
                  <a:pt x="657322" y="0"/>
                </a:moveTo>
                <a:lnTo>
                  <a:pt x="606825" y="12771"/>
                </a:lnTo>
                <a:lnTo>
                  <a:pt x="576121" y="36653"/>
                </a:lnTo>
                <a:lnTo>
                  <a:pt x="558325" y="81487"/>
                </a:lnTo>
                <a:lnTo>
                  <a:pt x="558621" y="93882"/>
                </a:lnTo>
                <a:lnTo>
                  <a:pt x="560686" y="106869"/>
                </a:lnTo>
                <a:lnTo>
                  <a:pt x="564520" y="120440"/>
                </a:lnTo>
                <a:lnTo>
                  <a:pt x="597082" y="108449"/>
                </a:lnTo>
                <a:lnTo>
                  <a:pt x="594062" y="95427"/>
                </a:lnTo>
                <a:lnTo>
                  <a:pt x="593065" y="83114"/>
                </a:lnTo>
                <a:lnTo>
                  <a:pt x="613809" y="41285"/>
                </a:lnTo>
                <a:lnTo>
                  <a:pt x="651253" y="30479"/>
                </a:lnTo>
                <a:lnTo>
                  <a:pt x="715424" y="30479"/>
                </a:lnTo>
                <a:lnTo>
                  <a:pt x="714206" y="28522"/>
                </a:lnTo>
                <a:lnTo>
                  <a:pt x="706324" y="19962"/>
                </a:lnTo>
                <a:lnTo>
                  <a:pt x="696320" y="12601"/>
                </a:lnTo>
                <a:lnTo>
                  <a:pt x="683825" y="6346"/>
                </a:lnTo>
                <a:lnTo>
                  <a:pt x="668470" y="1106"/>
                </a:lnTo>
                <a:lnTo>
                  <a:pt x="65732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7010400" y="4149852"/>
            <a:ext cx="3413760" cy="546100"/>
          </a:xfrm>
          <a:custGeom>
            <a:rect b="b" l="l" r="r" t="t"/>
            <a:pathLst>
              <a:path extrusionOk="0" h="546100" w="3413759">
                <a:moveTo>
                  <a:pt x="0" y="545591"/>
                </a:moveTo>
                <a:lnTo>
                  <a:pt x="3413759" y="545591"/>
                </a:lnTo>
                <a:lnTo>
                  <a:pt x="3413759" y="0"/>
                </a:lnTo>
                <a:lnTo>
                  <a:pt x="0" y="0"/>
                </a:lnTo>
                <a:lnTo>
                  <a:pt x="0" y="545591"/>
                </a:lnTo>
                <a:close/>
              </a:path>
            </a:pathLst>
          </a:custGeom>
          <a:solidFill>
            <a:srgbClr val="91D0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7010400" y="4149852"/>
            <a:ext cx="3413760" cy="546100"/>
          </a:xfrm>
          <a:custGeom>
            <a:rect b="b" l="l" r="r" t="t"/>
            <a:pathLst>
              <a:path extrusionOk="0" h="546100" w="3413759">
                <a:moveTo>
                  <a:pt x="0" y="545591"/>
                </a:moveTo>
                <a:lnTo>
                  <a:pt x="3413759" y="545591"/>
                </a:lnTo>
                <a:lnTo>
                  <a:pt x="3413759" y="0"/>
                </a:lnTo>
                <a:lnTo>
                  <a:pt x="0" y="0"/>
                </a:lnTo>
                <a:lnTo>
                  <a:pt x="0" y="545591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7500370" y="4191000"/>
            <a:ext cx="2438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Intended use!!</a:t>
            </a:r>
            <a:endParaRPr/>
          </a:p>
        </p:txBody>
      </p:sp>
      <p:sp>
        <p:nvSpPr>
          <p:cNvPr id="258" name="Google Shape;258;p22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/>
          <p:nvPr/>
        </p:nvSpPr>
        <p:spPr>
          <a:xfrm>
            <a:off x="290302" y="4491387"/>
            <a:ext cx="2452897" cy="19837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304255" y="1188463"/>
            <a:ext cx="7898130" cy="325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69469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▪"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testing is not that different from testing in other disciplines</a:t>
            </a:r>
            <a:endParaRPr/>
          </a:p>
          <a:p>
            <a:pPr indent="-286385" lvl="1" marL="756285" marR="1437005" rtl="0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Bridges: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verify requirements, design, construction</a:t>
            </a:r>
            <a:endParaRPr/>
          </a:p>
          <a:p>
            <a:pPr indent="-286385" lvl="1" marL="756285" marR="0" rtl="0" algn="l"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Cars: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verify requirements, design, construction</a:t>
            </a:r>
            <a:endParaRPr/>
          </a:p>
          <a:p>
            <a:pPr indent="-286385" lvl="1" marL="756285" marR="125984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Software: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verify requirements, design, implementation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a Software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3124961" y="5334762"/>
            <a:ext cx="6096000" cy="461665"/>
          </a:xfrm>
          <a:prstGeom prst="rect">
            <a:avLst/>
          </a:prstGeom>
          <a:noFill/>
          <a:ln cap="flat" cmpd="sng" w="228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365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But software is often much harder!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9109290" y="1038805"/>
            <a:ext cx="2920732" cy="293590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9371093" y="5033967"/>
            <a:ext cx="2781576" cy="172560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 txBox="1"/>
          <p:nvPr/>
        </p:nvSpPr>
        <p:spPr>
          <a:xfrm>
            <a:off x="2827783" y="3374090"/>
            <a:ext cx="652907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TESTING APPROACHES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 txBox="1"/>
          <p:nvPr/>
        </p:nvSpPr>
        <p:spPr>
          <a:xfrm>
            <a:off x="0" y="1042025"/>
            <a:ext cx="12192000" cy="3613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Unit testing</a:t>
            </a:r>
            <a:endParaRPr/>
          </a:p>
          <a:p>
            <a:pPr indent="-286385" lvl="1" marL="756285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Testing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individual functions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classes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756285" marR="0" rtl="0" algn="l">
              <a:spcBef>
                <a:spcPts val="62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Does not catch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faults related to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interactions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0" rtl="0" algn="l">
              <a:spcBef>
                <a:spcPts val="70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Integration testing</a:t>
            </a:r>
            <a:endParaRPr/>
          </a:p>
          <a:p>
            <a:pPr indent="-286385" lvl="1" marL="756285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interactions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units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756285" marR="5080" rtl="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specification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how units are expected to communicate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756285" marR="0" rtl="0" algn="l">
              <a:spcBef>
                <a:spcPts val="62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Does not catch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faults related to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entire system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Levels</a:t>
            </a:r>
            <a:endParaRPr/>
          </a:p>
        </p:txBody>
      </p:sp>
      <p:sp>
        <p:nvSpPr>
          <p:cNvPr id="285" name="Google Shape;285;p25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/>
          <p:nvPr>
            <p:ph idx="1" type="body"/>
          </p:nvPr>
        </p:nvSpPr>
        <p:spPr>
          <a:xfrm>
            <a:off x="228600" y="1219200"/>
            <a:ext cx="11811000" cy="5027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US" sz="3600"/>
              <a:t>System testing</a:t>
            </a:r>
            <a:endParaRPr/>
          </a:p>
          <a:p>
            <a:pPr indent="-286385" lvl="1" marL="756285" marR="612775" rtl="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Tests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entire system as a whole 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with focus on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286385" lvl="1" marL="756285" rtl="0" algn="l">
              <a:spcBef>
                <a:spcPts val="625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Can be hard to test exceptional conditions at this</a:t>
            </a:r>
            <a:endParaRPr/>
          </a:p>
          <a:p>
            <a:pPr indent="0" lvl="0" marL="75628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level</a:t>
            </a:r>
            <a:endParaRPr sz="2000"/>
          </a:p>
          <a:p>
            <a:pPr indent="-114300" lvl="0" marL="355600" rtl="0" algn="l">
              <a:spcBef>
                <a:spcPts val="705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sz="3600"/>
          </a:p>
          <a:p>
            <a:pPr indent="-342900" lvl="0" marL="355600" rtl="0" algn="l">
              <a:spcBef>
                <a:spcPts val="705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US" sz="3600"/>
              <a:t>Acceptance testing</a:t>
            </a:r>
            <a:endParaRPr/>
          </a:p>
          <a:p>
            <a:pPr indent="-286385" lvl="1" marL="756285" marR="187960" rtl="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Test that system meets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customer requirements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, often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performed by customer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Levels</a:t>
            </a:r>
            <a:endParaRPr/>
          </a:p>
        </p:txBody>
      </p:sp>
      <p:sp>
        <p:nvSpPr>
          <p:cNvPr id="293" name="Google Shape;293;p26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7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Testing Approaches</a:t>
            </a:r>
            <a:endParaRPr/>
          </a:p>
        </p:txBody>
      </p:sp>
      <p:sp>
        <p:nvSpPr>
          <p:cNvPr id="300" name="Google Shape;300;p27"/>
          <p:cNvSpPr/>
          <p:nvPr/>
        </p:nvSpPr>
        <p:spPr>
          <a:xfrm>
            <a:off x="4339590" y="2416303"/>
            <a:ext cx="2181333" cy="309135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4339590" y="2416301"/>
            <a:ext cx="2181468" cy="3091359"/>
          </a:xfrm>
          <a:custGeom>
            <a:rect b="b" l="l" r="r" t="t"/>
            <a:pathLst>
              <a:path extrusionOk="0" h="2133600" w="2068195">
                <a:moveTo>
                  <a:pt x="0" y="1066799"/>
                </a:moveTo>
                <a:lnTo>
                  <a:pt x="3427" y="979309"/>
                </a:lnTo>
                <a:lnTo>
                  <a:pt x="13533" y="893766"/>
                </a:lnTo>
                <a:lnTo>
                  <a:pt x="30050" y="810445"/>
                </a:lnTo>
                <a:lnTo>
                  <a:pt x="52713" y="729619"/>
                </a:lnTo>
                <a:lnTo>
                  <a:pt x="81256" y="651565"/>
                </a:lnTo>
                <a:lnTo>
                  <a:pt x="115412" y="576556"/>
                </a:lnTo>
                <a:lnTo>
                  <a:pt x="154916" y="504868"/>
                </a:lnTo>
                <a:lnTo>
                  <a:pt x="199502" y="436774"/>
                </a:lnTo>
                <a:lnTo>
                  <a:pt x="248902" y="372550"/>
                </a:lnTo>
                <a:lnTo>
                  <a:pt x="302853" y="312469"/>
                </a:lnTo>
                <a:lnTo>
                  <a:pt x="361086" y="256807"/>
                </a:lnTo>
                <a:lnTo>
                  <a:pt x="423337" y="205838"/>
                </a:lnTo>
                <a:lnTo>
                  <a:pt x="489339" y="159838"/>
                </a:lnTo>
                <a:lnTo>
                  <a:pt x="558825" y="119079"/>
                </a:lnTo>
                <a:lnTo>
                  <a:pt x="631531" y="83838"/>
                </a:lnTo>
                <a:lnTo>
                  <a:pt x="707190" y="54388"/>
                </a:lnTo>
                <a:lnTo>
                  <a:pt x="785536" y="31005"/>
                </a:lnTo>
                <a:lnTo>
                  <a:pt x="866302" y="13963"/>
                </a:lnTo>
                <a:lnTo>
                  <a:pt x="949224" y="3536"/>
                </a:lnTo>
                <a:lnTo>
                  <a:pt x="1034033" y="0"/>
                </a:lnTo>
                <a:lnTo>
                  <a:pt x="1118848" y="3536"/>
                </a:lnTo>
                <a:lnTo>
                  <a:pt x="1201772" y="13963"/>
                </a:lnTo>
                <a:lnTo>
                  <a:pt x="1282541" y="31005"/>
                </a:lnTo>
                <a:lnTo>
                  <a:pt x="1360889" y="54388"/>
                </a:lnTo>
                <a:lnTo>
                  <a:pt x="1436549" y="83838"/>
                </a:lnTo>
                <a:lnTo>
                  <a:pt x="1509255" y="119079"/>
                </a:lnTo>
                <a:lnTo>
                  <a:pt x="1578742" y="159838"/>
                </a:lnTo>
                <a:lnTo>
                  <a:pt x="1644743" y="205838"/>
                </a:lnTo>
                <a:lnTo>
                  <a:pt x="1706993" y="256807"/>
                </a:lnTo>
                <a:lnTo>
                  <a:pt x="1765226" y="312469"/>
                </a:lnTo>
                <a:lnTo>
                  <a:pt x="1819175" y="372550"/>
                </a:lnTo>
                <a:lnTo>
                  <a:pt x="1868574" y="436774"/>
                </a:lnTo>
                <a:lnTo>
                  <a:pt x="1913158" y="504868"/>
                </a:lnTo>
                <a:lnTo>
                  <a:pt x="1952660" y="576556"/>
                </a:lnTo>
                <a:lnTo>
                  <a:pt x="1986815" y="651565"/>
                </a:lnTo>
                <a:lnTo>
                  <a:pt x="2015357" y="729619"/>
                </a:lnTo>
                <a:lnTo>
                  <a:pt x="2038019" y="810445"/>
                </a:lnTo>
                <a:lnTo>
                  <a:pt x="2054535" y="893766"/>
                </a:lnTo>
                <a:lnTo>
                  <a:pt x="2064640" y="979309"/>
                </a:lnTo>
                <a:lnTo>
                  <a:pt x="2068067" y="1066799"/>
                </a:lnTo>
                <a:lnTo>
                  <a:pt x="2064640" y="1154291"/>
                </a:lnTo>
                <a:lnTo>
                  <a:pt x="2054535" y="1239835"/>
                </a:lnTo>
                <a:lnTo>
                  <a:pt x="2038019" y="1323157"/>
                </a:lnTo>
                <a:lnTo>
                  <a:pt x="2015357" y="1403983"/>
                </a:lnTo>
                <a:lnTo>
                  <a:pt x="1986815" y="1482038"/>
                </a:lnTo>
                <a:lnTo>
                  <a:pt x="1952660" y="1557047"/>
                </a:lnTo>
                <a:lnTo>
                  <a:pt x="1913158" y="1628735"/>
                </a:lnTo>
                <a:lnTo>
                  <a:pt x="1868574" y="1696829"/>
                </a:lnTo>
                <a:lnTo>
                  <a:pt x="1819175" y="1761053"/>
                </a:lnTo>
                <a:lnTo>
                  <a:pt x="1765226" y="1821133"/>
                </a:lnTo>
                <a:lnTo>
                  <a:pt x="1706993" y="1876795"/>
                </a:lnTo>
                <a:lnTo>
                  <a:pt x="1644743" y="1927763"/>
                </a:lnTo>
                <a:lnTo>
                  <a:pt x="1578742" y="1973763"/>
                </a:lnTo>
                <a:lnTo>
                  <a:pt x="1509255" y="2014521"/>
                </a:lnTo>
                <a:lnTo>
                  <a:pt x="1436549" y="2049762"/>
                </a:lnTo>
                <a:lnTo>
                  <a:pt x="1360889" y="2079211"/>
                </a:lnTo>
                <a:lnTo>
                  <a:pt x="1282541" y="2102594"/>
                </a:lnTo>
                <a:lnTo>
                  <a:pt x="1201772" y="2119636"/>
                </a:lnTo>
                <a:lnTo>
                  <a:pt x="1118848" y="2130063"/>
                </a:lnTo>
                <a:lnTo>
                  <a:pt x="1034033" y="2133599"/>
                </a:lnTo>
                <a:lnTo>
                  <a:pt x="949224" y="2130063"/>
                </a:lnTo>
                <a:lnTo>
                  <a:pt x="866302" y="2119636"/>
                </a:lnTo>
                <a:lnTo>
                  <a:pt x="785536" y="2102594"/>
                </a:lnTo>
                <a:lnTo>
                  <a:pt x="707190" y="2079211"/>
                </a:lnTo>
                <a:lnTo>
                  <a:pt x="631531" y="2049762"/>
                </a:lnTo>
                <a:lnTo>
                  <a:pt x="558825" y="2014521"/>
                </a:lnTo>
                <a:lnTo>
                  <a:pt x="489339" y="1973763"/>
                </a:lnTo>
                <a:lnTo>
                  <a:pt x="423337" y="1927763"/>
                </a:lnTo>
                <a:lnTo>
                  <a:pt x="361086" y="1876795"/>
                </a:lnTo>
                <a:lnTo>
                  <a:pt x="302853" y="1821133"/>
                </a:lnTo>
                <a:lnTo>
                  <a:pt x="248902" y="1761053"/>
                </a:lnTo>
                <a:lnTo>
                  <a:pt x="199502" y="1696829"/>
                </a:lnTo>
                <a:lnTo>
                  <a:pt x="154916" y="1628735"/>
                </a:lnTo>
                <a:lnTo>
                  <a:pt x="115412" y="1557047"/>
                </a:lnTo>
                <a:lnTo>
                  <a:pt x="81256" y="1482038"/>
                </a:lnTo>
                <a:lnTo>
                  <a:pt x="52713" y="1403983"/>
                </a:lnTo>
                <a:lnTo>
                  <a:pt x="30050" y="1323157"/>
                </a:lnTo>
                <a:lnTo>
                  <a:pt x="13533" y="1239835"/>
                </a:lnTo>
                <a:lnTo>
                  <a:pt x="3427" y="1154291"/>
                </a:lnTo>
                <a:lnTo>
                  <a:pt x="0" y="1066799"/>
                </a:lnTo>
                <a:close/>
              </a:path>
            </a:pathLst>
          </a:custGeom>
          <a:noFill/>
          <a:ln cap="flat" cmpd="sng" w="25900">
            <a:solidFill>
              <a:srgbClr val="779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5502400" y="2405633"/>
            <a:ext cx="2183477" cy="3091359"/>
          </a:xfrm>
          <a:custGeom>
            <a:rect b="b" l="l" r="r" t="t"/>
            <a:pathLst>
              <a:path extrusionOk="0" h="2133600" w="2070100">
                <a:moveTo>
                  <a:pt x="0" y="1066799"/>
                </a:moveTo>
                <a:lnTo>
                  <a:pt x="3430" y="979309"/>
                </a:lnTo>
                <a:lnTo>
                  <a:pt x="13543" y="893766"/>
                </a:lnTo>
                <a:lnTo>
                  <a:pt x="30074" y="810445"/>
                </a:lnTo>
                <a:lnTo>
                  <a:pt x="52754" y="729619"/>
                </a:lnTo>
                <a:lnTo>
                  <a:pt x="81319" y="651565"/>
                </a:lnTo>
                <a:lnTo>
                  <a:pt x="115502" y="576556"/>
                </a:lnTo>
                <a:lnTo>
                  <a:pt x="155036" y="504868"/>
                </a:lnTo>
                <a:lnTo>
                  <a:pt x="199656" y="436774"/>
                </a:lnTo>
                <a:lnTo>
                  <a:pt x="249094" y="372550"/>
                </a:lnTo>
                <a:lnTo>
                  <a:pt x="303085" y="312469"/>
                </a:lnTo>
                <a:lnTo>
                  <a:pt x="361362" y="256807"/>
                </a:lnTo>
                <a:lnTo>
                  <a:pt x="423659" y="205838"/>
                </a:lnTo>
                <a:lnTo>
                  <a:pt x="489710" y="159838"/>
                </a:lnTo>
                <a:lnTo>
                  <a:pt x="559248" y="119079"/>
                </a:lnTo>
                <a:lnTo>
                  <a:pt x="632007" y="83838"/>
                </a:lnTo>
                <a:lnTo>
                  <a:pt x="707721" y="54388"/>
                </a:lnTo>
                <a:lnTo>
                  <a:pt x="786123" y="31005"/>
                </a:lnTo>
                <a:lnTo>
                  <a:pt x="866947" y="13963"/>
                </a:lnTo>
                <a:lnTo>
                  <a:pt x="949926" y="3536"/>
                </a:lnTo>
                <a:lnTo>
                  <a:pt x="1034795" y="0"/>
                </a:lnTo>
                <a:lnTo>
                  <a:pt x="1119665" y="3536"/>
                </a:lnTo>
                <a:lnTo>
                  <a:pt x="1202644" y="13963"/>
                </a:lnTo>
                <a:lnTo>
                  <a:pt x="1283468" y="31005"/>
                </a:lnTo>
                <a:lnTo>
                  <a:pt x="1361870" y="54388"/>
                </a:lnTo>
                <a:lnTo>
                  <a:pt x="1437584" y="83838"/>
                </a:lnTo>
                <a:lnTo>
                  <a:pt x="1510343" y="119079"/>
                </a:lnTo>
                <a:lnTo>
                  <a:pt x="1579881" y="159838"/>
                </a:lnTo>
                <a:lnTo>
                  <a:pt x="1645932" y="205838"/>
                </a:lnTo>
                <a:lnTo>
                  <a:pt x="1708229" y="256807"/>
                </a:lnTo>
                <a:lnTo>
                  <a:pt x="1766506" y="312469"/>
                </a:lnTo>
                <a:lnTo>
                  <a:pt x="1820497" y="372550"/>
                </a:lnTo>
                <a:lnTo>
                  <a:pt x="1869935" y="436774"/>
                </a:lnTo>
                <a:lnTo>
                  <a:pt x="1914555" y="504868"/>
                </a:lnTo>
                <a:lnTo>
                  <a:pt x="1954089" y="576556"/>
                </a:lnTo>
                <a:lnTo>
                  <a:pt x="1988272" y="651565"/>
                </a:lnTo>
                <a:lnTo>
                  <a:pt x="2016837" y="729619"/>
                </a:lnTo>
                <a:lnTo>
                  <a:pt x="2039517" y="810445"/>
                </a:lnTo>
                <a:lnTo>
                  <a:pt x="2056048" y="893766"/>
                </a:lnTo>
                <a:lnTo>
                  <a:pt x="2066161" y="979309"/>
                </a:lnTo>
                <a:lnTo>
                  <a:pt x="2069591" y="1066799"/>
                </a:lnTo>
                <a:lnTo>
                  <a:pt x="2066161" y="1154291"/>
                </a:lnTo>
                <a:lnTo>
                  <a:pt x="2056048" y="1239835"/>
                </a:lnTo>
                <a:lnTo>
                  <a:pt x="2039517" y="1323157"/>
                </a:lnTo>
                <a:lnTo>
                  <a:pt x="2016837" y="1403983"/>
                </a:lnTo>
                <a:lnTo>
                  <a:pt x="1988272" y="1482038"/>
                </a:lnTo>
                <a:lnTo>
                  <a:pt x="1954089" y="1557047"/>
                </a:lnTo>
                <a:lnTo>
                  <a:pt x="1914555" y="1628735"/>
                </a:lnTo>
                <a:lnTo>
                  <a:pt x="1869935" y="1696829"/>
                </a:lnTo>
                <a:lnTo>
                  <a:pt x="1820497" y="1761053"/>
                </a:lnTo>
                <a:lnTo>
                  <a:pt x="1766506" y="1821133"/>
                </a:lnTo>
                <a:lnTo>
                  <a:pt x="1708229" y="1876795"/>
                </a:lnTo>
                <a:lnTo>
                  <a:pt x="1645932" y="1927763"/>
                </a:lnTo>
                <a:lnTo>
                  <a:pt x="1579881" y="1973763"/>
                </a:lnTo>
                <a:lnTo>
                  <a:pt x="1510343" y="2014521"/>
                </a:lnTo>
                <a:lnTo>
                  <a:pt x="1437584" y="2049762"/>
                </a:lnTo>
                <a:lnTo>
                  <a:pt x="1361870" y="2079211"/>
                </a:lnTo>
                <a:lnTo>
                  <a:pt x="1283468" y="2102594"/>
                </a:lnTo>
                <a:lnTo>
                  <a:pt x="1202644" y="2119636"/>
                </a:lnTo>
                <a:lnTo>
                  <a:pt x="1119665" y="2130063"/>
                </a:lnTo>
                <a:lnTo>
                  <a:pt x="1034795" y="2133599"/>
                </a:lnTo>
                <a:lnTo>
                  <a:pt x="949926" y="2130063"/>
                </a:lnTo>
                <a:lnTo>
                  <a:pt x="866947" y="2119636"/>
                </a:lnTo>
                <a:lnTo>
                  <a:pt x="786123" y="2102594"/>
                </a:lnTo>
                <a:lnTo>
                  <a:pt x="707721" y="2079211"/>
                </a:lnTo>
                <a:lnTo>
                  <a:pt x="632007" y="2049762"/>
                </a:lnTo>
                <a:lnTo>
                  <a:pt x="559248" y="2014521"/>
                </a:lnTo>
                <a:lnTo>
                  <a:pt x="489710" y="1973763"/>
                </a:lnTo>
                <a:lnTo>
                  <a:pt x="423659" y="1927763"/>
                </a:lnTo>
                <a:lnTo>
                  <a:pt x="361362" y="1876795"/>
                </a:lnTo>
                <a:lnTo>
                  <a:pt x="303085" y="1821133"/>
                </a:lnTo>
                <a:lnTo>
                  <a:pt x="249094" y="1761053"/>
                </a:lnTo>
                <a:lnTo>
                  <a:pt x="199656" y="1696829"/>
                </a:lnTo>
                <a:lnTo>
                  <a:pt x="155036" y="1628735"/>
                </a:lnTo>
                <a:lnTo>
                  <a:pt x="115502" y="1557047"/>
                </a:lnTo>
                <a:lnTo>
                  <a:pt x="81319" y="1482038"/>
                </a:lnTo>
                <a:lnTo>
                  <a:pt x="52754" y="1403983"/>
                </a:lnTo>
                <a:lnTo>
                  <a:pt x="30074" y="1323157"/>
                </a:lnTo>
                <a:lnTo>
                  <a:pt x="13543" y="1239835"/>
                </a:lnTo>
                <a:lnTo>
                  <a:pt x="3430" y="1154291"/>
                </a:lnTo>
                <a:lnTo>
                  <a:pt x="0" y="1066799"/>
                </a:lnTo>
                <a:close/>
              </a:path>
            </a:pathLst>
          </a:custGeom>
          <a:noFill/>
          <a:ln cap="flat" cmpd="sng" w="25900">
            <a:solidFill>
              <a:srgbClr val="375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 txBox="1"/>
          <p:nvPr/>
        </p:nvSpPr>
        <p:spPr>
          <a:xfrm>
            <a:off x="3519045" y="1869268"/>
            <a:ext cx="13911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Specification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7717288" y="1932395"/>
            <a:ext cx="9504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3544572" y="3744467"/>
            <a:ext cx="1276597" cy="1093016"/>
          </a:xfrm>
          <a:custGeom>
            <a:rect b="b" l="l" r="r" t="t"/>
            <a:pathLst>
              <a:path extrusionOk="0" h="754379" w="1210310">
                <a:moveTo>
                  <a:pt x="1141965" y="34788"/>
                </a:moveTo>
                <a:lnTo>
                  <a:pt x="0" y="743330"/>
                </a:lnTo>
                <a:lnTo>
                  <a:pt x="6595" y="754130"/>
                </a:lnTo>
                <a:lnTo>
                  <a:pt x="1148623" y="45532"/>
                </a:lnTo>
                <a:lnTo>
                  <a:pt x="1141965" y="34788"/>
                </a:lnTo>
                <a:close/>
              </a:path>
              <a:path extrusionOk="0" h="754379" w="1210310">
                <a:moveTo>
                  <a:pt x="1192753" y="28072"/>
                </a:moveTo>
                <a:lnTo>
                  <a:pt x="1152790" y="28072"/>
                </a:lnTo>
                <a:lnTo>
                  <a:pt x="1159373" y="38861"/>
                </a:lnTo>
                <a:lnTo>
                  <a:pt x="1148623" y="45532"/>
                </a:lnTo>
                <a:lnTo>
                  <a:pt x="1165347" y="72521"/>
                </a:lnTo>
                <a:lnTo>
                  <a:pt x="1192753" y="28072"/>
                </a:lnTo>
                <a:close/>
              </a:path>
              <a:path extrusionOk="0" h="754379" w="1210310">
                <a:moveTo>
                  <a:pt x="1152790" y="28072"/>
                </a:moveTo>
                <a:lnTo>
                  <a:pt x="1141965" y="34788"/>
                </a:lnTo>
                <a:lnTo>
                  <a:pt x="1148623" y="45532"/>
                </a:lnTo>
                <a:lnTo>
                  <a:pt x="1159373" y="38861"/>
                </a:lnTo>
                <a:lnTo>
                  <a:pt x="1152790" y="28072"/>
                </a:lnTo>
                <a:close/>
              </a:path>
              <a:path extrusionOk="0" h="754379" w="1210310">
                <a:moveTo>
                  <a:pt x="1210062" y="0"/>
                </a:moveTo>
                <a:lnTo>
                  <a:pt x="1125205" y="7741"/>
                </a:lnTo>
                <a:lnTo>
                  <a:pt x="1141965" y="34788"/>
                </a:lnTo>
                <a:lnTo>
                  <a:pt x="1152790" y="28072"/>
                </a:lnTo>
                <a:lnTo>
                  <a:pt x="1192753" y="28072"/>
                </a:lnTo>
                <a:lnTo>
                  <a:pt x="1210062" y="0"/>
                </a:lnTo>
                <a:close/>
              </a:path>
            </a:pathLst>
          </a:custGeom>
          <a:solidFill>
            <a:srgbClr val="007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 txBox="1"/>
          <p:nvPr/>
        </p:nvSpPr>
        <p:spPr>
          <a:xfrm>
            <a:off x="2955164" y="4612723"/>
            <a:ext cx="125650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5588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434"/>
                </a:solidFill>
                <a:latin typeface="Arial"/>
                <a:ea typeface="Arial"/>
                <a:cs typeface="Arial"/>
                <a:sym typeface="Arial"/>
              </a:rPr>
              <a:t>Functional (Black Box)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6979919" y="3739653"/>
            <a:ext cx="1673106" cy="1003772"/>
          </a:xfrm>
          <a:custGeom>
            <a:rect b="b" l="l" r="r" t="t"/>
            <a:pathLst>
              <a:path extrusionOk="0" h="692785" w="1586229">
                <a:moveTo>
                  <a:pt x="72506" y="29134"/>
                </a:moveTo>
                <a:lnTo>
                  <a:pt x="67443" y="40849"/>
                </a:lnTo>
                <a:lnTo>
                  <a:pt x="1581028" y="692520"/>
                </a:lnTo>
                <a:lnTo>
                  <a:pt x="1586118" y="680959"/>
                </a:lnTo>
                <a:lnTo>
                  <a:pt x="72506" y="29134"/>
                </a:lnTo>
                <a:close/>
              </a:path>
              <a:path extrusionOk="0" h="692785" w="1586229">
                <a:moveTo>
                  <a:pt x="85100" y="0"/>
                </a:moveTo>
                <a:lnTo>
                  <a:pt x="0" y="4815"/>
                </a:lnTo>
                <a:lnTo>
                  <a:pt x="54863" y="69951"/>
                </a:lnTo>
                <a:lnTo>
                  <a:pt x="67443" y="40849"/>
                </a:lnTo>
                <a:lnTo>
                  <a:pt x="55747" y="35813"/>
                </a:lnTo>
                <a:lnTo>
                  <a:pt x="60838" y="24109"/>
                </a:lnTo>
                <a:lnTo>
                  <a:pt x="74678" y="24109"/>
                </a:lnTo>
                <a:lnTo>
                  <a:pt x="85100" y="0"/>
                </a:lnTo>
                <a:close/>
              </a:path>
              <a:path extrusionOk="0" h="692785" w="1586229">
                <a:moveTo>
                  <a:pt x="60838" y="24109"/>
                </a:moveTo>
                <a:lnTo>
                  <a:pt x="55747" y="35813"/>
                </a:lnTo>
                <a:lnTo>
                  <a:pt x="67443" y="40849"/>
                </a:lnTo>
                <a:lnTo>
                  <a:pt x="72506" y="29134"/>
                </a:lnTo>
                <a:lnTo>
                  <a:pt x="60838" y="24109"/>
                </a:lnTo>
                <a:close/>
              </a:path>
              <a:path extrusionOk="0" h="692785" w="1586229">
                <a:moveTo>
                  <a:pt x="74678" y="24109"/>
                </a:moveTo>
                <a:lnTo>
                  <a:pt x="60838" y="24109"/>
                </a:lnTo>
                <a:lnTo>
                  <a:pt x="72506" y="29134"/>
                </a:lnTo>
                <a:lnTo>
                  <a:pt x="74678" y="24109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 txBox="1"/>
          <p:nvPr/>
        </p:nvSpPr>
        <p:spPr>
          <a:xfrm>
            <a:off x="8088635" y="4607516"/>
            <a:ext cx="128396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106679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Structural (White Box)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7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 txBox="1"/>
          <p:nvPr/>
        </p:nvSpPr>
        <p:spPr>
          <a:xfrm>
            <a:off x="49152" y="1168198"/>
            <a:ext cx="1206664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▪"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is understood only in terms of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it's inputs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outputs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 knowledge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its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Black Box</a:t>
            </a:r>
            <a:endParaRPr/>
          </a:p>
        </p:txBody>
      </p:sp>
      <p:sp>
        <p:nvSpPr>
          <p:cNvPr id="317" name="Google Shape;317;p28"/>
          <p:cNvSpPr/>
          <p:nvPr/>
        </p:nvSpPr>
        <p:spPr>
          <a:xfrm>
            <a:off x="3778757" y="4169664"/>
            <a:ext cx="1600200" cy="160020"/>
          </a:xfrm>
          <a:custGeom>
            <a:rect b="b" l="l" r="r" t="t"/>
            <a:pathLst>
              <a:path extrusionOk="0" h="160020" w="1600200">
                <a:moveTo>
                  <a:pt x="1504187" y="80009"/>
                </a:moveTo>
                <a:lnTo>
                  <a:pt x="1440179" y="160019"/>
                </a:lnTo>
                <a:lnTo>
                  <a:pt x="1568195" y="96011"/>
                </a:lnTo>
                <a:lnTo>
                  <a:pt x="1504187" y="96011"/>
                </a:lnTo>
                <a:lnTo>
                  <a:pt x="1504187" y="80009"/>
                </a:lnTo>
                <a:close/>
              </a:path>
              <a:path extrusionOk="0" h="160020" w="1600200">
                <a:moveTo>
                  <a:pt x="1491386" y="64007"/>
                </a:moveTo>
                <a:lnTo>
                  <a:pt x="0" y="64007"/>
                </a:lnTo>
                <a:lnTo>
                  <a:pt x="0" y="96011"/>
                </a:lnTo>
                <a:lnTo>
                  <a:pt x="1491386" y="96011"/>
                </a:lnTo>
                <a:lnTo>
                  <a:pt x="1504187" y="80009"/>
                </a:lnTo>
                <a:lnTo>
                  <a:pt x="1491386" y="64007"/>
                </a:lnTo>
                <a:close/>
              </a:path>
              <a:path extrusionOk="0" h="160020" w="1600200">
                <a:moveTo>
                  <a:pt x="1568195" y="64007"/>
                </a:moveTo>
                <a:lnTo>
                  <a:pt x="1504187" y="64007"/>
                </a:lnTo>
                <a:lnTo>
                  <a:pt x="1504187" y="96011"/>
                </a:lnTo>
                <a:lnTo>
                  <a:pt x="1568195" y="96011"/>
                </a:lnTo>
                <a:lnTo>
                  <a:pt x="1600199" y="80009"/>
                </a:lnTo>
                <a:lnTo>
                  <a:pt x="1568195" y="64007"/>
                </a:lnTo>
                <a:close/>
              </a:path>
              <a:path extrusionOk="0" h="160020" w="1600200">
                <a:moveTo>
                  <a:pt x="1440179" y="0"/>
                </a:moveTo>
                <a:lnTo>
                  <a:pt x="1504187" y="80009"/>
                </a:lnTo>
                <a:lnTo>
                  <a:pt x="1504187" y="64007"/>
                </a:lnTo>
                <a:lnTo>
                  <a:pt x="1568195" y="64007"/>
                </a:lnTo>
                <a:lnTo>
                  <a:pt x="144017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3778757" y="4511040"/>
            <a:ext cx="1600200" cy="160020"/>
          </a:xfrm>
          <a:custGeom>
            <a:rect b="b" l="l" r="r" t="t"/>
            <a:pathLst>
              <a:path extrusionOk="0" h="160020" w="1600200">
                <a:moveTo>
                  <a:pt x="1504187" y="80009"/>
                </a:moveTo>
                <a:lnTo>
                  <a:pt x="1440179" y="160019"/>
                </a:lnTo>
                <a:lnTo>
                  <a:pt x="1568195" y="96011"/>
                </a:lnTo>
                <a:lnTo>
                  <a:pt x="1504187" y="96011"/>
                </a:lnTo>
                <a:lnTo>
                  <a:pt x="1504187" y="80009"/>
                </a:lnTo>
                <a:close/>
              </a:path>
              <a:path extrusionOk="0" h="160020" w="1600200">
                <a:moveTo>
                  <a:pt x="1491386" y="64007"/>
                </a:moveTo>
                <a:lnTo>
                  <a:pt x="0" y="64007"/>
                </a:lnTo>
                <a:lnTo>
                  <a:pt x="0" y="96011"/>
                </a:lnTo>
                <a:lnTo>
                  <a:pt x="1491386" y="96011"/>
                </a:lnTo>
                <a:lnTo>
                  <a:pt x="1504187" y="80009"/>
                </a:lnTo>
                <a:lnTo>
                  <a:pt x="1491386" y="64007"/>
                </a:lnTo>
                <a:close/>
              </a:path>
              <a:path extrusionOk="0" h="160020" w="1600200">
                <a:moveTo>
                  <a:pt x="1568195" y="64007"/>
                </a:moveTo>
                <a:lnTo>
                  <a:pt x="1504187" y="64007"/>
                </a:lnTo>
                <a:lnTo>
                  <a:pt x="1504187" y="96011"/>
                </a:lnTo>
                <a:lnTo>
                  <a:pt x="1568195" y="96011"/>
                </a:lnTo>
                <a:lnTo>
                  <a:pt x="1600199" y="80009"/>
                </a:lnTo>
                <a:lnTo>
                  <a:pt x="1568195" y="64007"/>
                </a:lnTo>
                <a:close/>
              </a:path>
              <a:path extrusionOk="0" h="160020" w="1600200">
                <a:moveTo>
                  <a:pt x="1440179" y="0"/>
                </a:moveTo>
                <a:lnTo>
                  <a:pt x="1504187" y="80009"/>
                </a:lnTo>
                <a:lnTo>
                  <a:pt x="1504187" y="64007"/>
                </a:lnTo>
                <a:lnTo>
                  <a:pt x="1568195" y="64007"/>
                </a:lnTo>
                <a:lnTo>
                  <a:pt x="144017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3778757" y="4855464"/>
            <a:ext cx="1600200" cy="160020"/>
          </a:xfrm>
          <a:custGeom>
            <a:rect b="b" l="l" r="r" t="t"/>
            <a:pathLst>
              <a:path extrusionOk="0" h="160020" w="1600200">
                <a:moveTo>
                  <a:pt x="1504187" y="80009"/>
                </a:moveTo>
                <a:lnTo>
                  <a:pt x="1440179" y="160019"/>
                </a:lnTo>
                <a:lnTo>
                  <a:pt x="1568195" y="96011"/>
                </a:lnTo>
                <a:lnTo>
                  <a:pt x="1504187" y="96011"/>
                </a:lnTo>
                <a:lnTo>
                  <a:pt x="1504187" y="80009"/>
                </a:lnTo>
                <a:close/>
              </a:path>
              <a:path extrusionOk="0" h="160020" w="1600200">
                <a:moveTo>
                  <a:pt x="1491386" y="64007"/>
                </a:moveTo>
                <a:lnTo>
                  <a:pt x="0" y="64007"/>
                </a:lnTo>
                <a:lnTo>
                  <a:pt x="0" y="96011"/>
                </a:lnTo>
                <a:lnTo>
                  <a:pt x="1491386" y="96011"/>
                </a:lnTo>
                <a:lnTo>
                  <a:pt x="1504187" y="80009"/>
                </a:lnTo>
                <a:lnTo>
                  <a:pt x="1491386" y="64007"/>
                </a:lnTo>
                <a:close/>
              </a:path>
              <a:path extrusionOk="0" h="160020" w="1600200">
                <a:moveTo>
                  <a:pt x="1568195" y="64007"/>
                </a:moveTo>
                <a:lnTo>
                  <a:pt x="1504187" y="64007"/>
                </a:lnTo>
                <a:lnTo>
                  <a:pt x="1504187" y="96011"/>
                </a:lnTo>
                <a:lnTo>
                  <a:pt x="1568195" y="96011"/>
                </a:lnTo>
                <a:lnTo>
                  <a:pt x="1600199" y="80009"/>
                </a:lnTo>
                <a:lnTo>
                  <a:pt x="1568195" y="64007"/>
                </a:lnTo>
                <a:close/>
              </a:path>
              <a:path extrusionOk="0" h="160020" w="1600200">
                <a:moveTo>
                  <a:pt x="1440179" y="0"/>
                </a:moveTo>
                <a:lnTo>
                  <a:pt x="1504187" y="80009"/>
                </a:lnTo>
                <a:lnTo>
                  <a:pt x="1504187" y="64007"/>
                </a:lnTo>
                <a:lnTo>
                  <a:pt x="1568195" y="64007"/>
                </a:lnTo>
                <a:lnTo>
                  <a:pt x="144017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7030973" y="4125467"/>
            <a:ext cx="1381760" cy="160020"/>
          </a:xfrm>
          <a:custGeom>
            <a:rect b="b" l="l" r="r" t="t"/>
            <a:pathLst>
              <a:path extrusionOk="0" h="160020" w="1381759">
                <a:moveTo>
                  <a:pt x="1285737" y="80009"/>
                </a:moveTo>
                <a:lnTo>
                  <a:pt x="1221729" y="160019"/>
                </a:lnTo>
                <a:lnTo>
                  <a:pt x="1349745" y="96011"/>
                </a:lnTo>
                <a:lnTo>
                  <a:pt x="1285737" y="96011"/>
                </a:lnTo>
                <a:lnTo>
                  <a:pt x="1285737" y="80009"/>
                </a:lnTo>
                <a:close/>
              </a:path>
              <a:path extrusionOk="0" h="160020" w="1381759">
                <a:moveTo>
                  <a:pt x="1272936" y="64007"/>
                </a:moveTo>
                <a:lnTo>
                  <a:pt x="0" y="64007"/>
                </a:lnTo>
                <a:lnTo>
                  <a:pt x="0" y="96011"/>
                </a:lnTo>
                <a:lnTo>
                  <a:pt x="1272936" y="96011"/>
                </a:lnTo>
                <a:lnTo>
                  <a:pt x="1285737" y="80009"/>
                </a:lnTo>
                <a:lnTo>
                  <a:pt x="1272936" y="64007"/>
                </a:lnTo>
                <a:close/>
              </a:path>
              <a:path extrusionOk="0" h="160020" w="1381759">
                <a:moveTo>
                  <a:pt x="1349745" y="64007"/>
                </a:moveTo>
                <a:lnTo>
                  <a:pt x="1285737" y="64007"/>
                </a:lnTo>
                <a:lnTo>
                  <a:pt x="1285737" y="96011"/>
                </a:lnTo>
                <a:lnTo>
                  <a:pt x="1349745" y="96011"/>
                </a:lnTo>
                <a:lnTo>
                  <a:pt x="1381749" y="80009"/>
                </a:lnTo>
                <a:lnTo>
                  <a:pt x="1349745" y="64007"/>
                </a:lnTo>
                <a:close/>
              </a:path>
              <a:path extrusionOk="0" h="160020" w="1381759">
                <a:moveTo>
                  <a:pt x="1221729" y="0"/>
                </a:moveTo>
                <a:lnTo>
                  <a:pt x="1285737" y="80009"/>
                </a:lnTo>
                <a:lnTo>
                  <a:pt x="1285737" y="64007"/>
                </a:lnTo>
                <a:lnTo>
                  <a:pt x="1349745" y="64007"/>
                </a:lnTo>
                <a:lnTo>
                  <a:pt x="122172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7030973" y="4735067"/>
            <a:ext cx="1381760" cy="160020"/>
          </a:xfrm>
          <a:custGeom>
            <a:rect b="b" l="l" r="r" t="t"/>
            <a:pathLst>
              <a:path extrusionOk="0" h="160020" w="1381759">
                <a:moveTo>
                  <a:pt x="1285737" y="80009"/>
                </a:moveTo>
                <a:lnTo>
                  <a:pt x="1221729" y="160019"/>
                </a:lnTo>
                <a:lnTo>
                  <a:pt x="1349745" y="96011"/>
                </a:lnTo>
                <a:lnTo>
                  <a:pt x="1285737" y="96011"/>
                </a:lnTo>
                <a:lnTo>
                  <a:pt x="1285737" y="80009"/>
                </a:lnTo>
                <a:close/>
              </a:path>
              <a:path extrusionOk="0" h="160020" w="1381759">
                <a:moveTo>
                  <a:pt x="1272936" y="64007"/>
                </a:moveTo>
                <a:lnTo>
                  <a:pt x="0" y="64007"/>
                </a:lnTo>
                <a:lnTo>
                  <a:pt x="0" y="96011"/>
                </a:lnTo>
                <a:lnTo>
                  <a:pt x="1272936" y="96011"/>
                </a:lnTo>
                <a:lnTo>
                  <a:pt x="1285737" y="80009"/>
                </a:lnTo>
                <a:lnTo>
                  <a:pt x="1272936" y="64007"/>
                </a:lnTo>
                <a:close/>
              </a:path>
              <a:path extrusionOk="0" h="160020" w="1381759">
                <a:moveTo>
                  <a:pt x="1349745" y="64007"/>
                </a:moveTo>
                <a:lnTo>
                  <a:pt x="1285737" y="64007"/>
                </a:lnTo>
                <a:lnTo>
                  <a:pt x="1285737" y="96011"/>
                </a:lnTo>
                <a:lnTo>
                  <a:pt x="1349745" y="96011"/>
                </a:lnTo>
                <a:lnTo>
                  <a:pt x="1381749" y="80009"/>
                </a:lnTo>
                <a:lnTo>
                  <a:pt x="1349745" y="64007"/>
                </a:lnTo>
                <a:close/>
              </a:path>
              <a:path extrusionOk="0" h="160020" w="1381759">
                <a:moveTo>
                  <a:pt x="1221729" y="0"/>
                </a:moveTo>
                <a:lnTo>
                  <a:pt x="1285737" y="80009"/>
                </a:lnTo>
                <a:lnTo>
                  <a:pt x="1285737" y="64007"/>
                </a:lnTo>
                <a:lnTo>
                  <a:pt x="1349745" y="64007"/>
                </a:lnTo>
                <a:lnTo>
                  <a:pt x="122172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5409439" y="3765042"/>
            <a:ext cx="1618615" cy="1653539"/>
          </a:xfrm>
          <a:custGeom>
            <a:rect b="b" l="l" r="r" t="t"/>
            <a:pathLst>
              <a:path extrusionOk="0" h="1653539" w="1618614">
                <a:moveTo>
                  <a:pt x="0" y="1653539"/>
                </a:moveTo>
                <a:lnTo>
                  <a:pt x="1618487" y="1653539"/>
                </a:lnTo>
                <a:lnTo>
                  <a:pt x="1618487" y="0"/>
                </a:lnTo>
                <a:lnTo>
                  <a:pt x="0" y="0"/>
                </a:lnTo>
                <a:lnTo>
                  <a:pt x="0" y="16535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5409439" y="3765042"/>
            <a:ext cx="1618615" cy="1653539"/>
          </a:xfrm>
          <a:custGeom>
            <a:rect b="b" l="l" r="r" t="t"/>
            <a:pathLst>
              <a:path extrusionOk="0" h="1653539" w="1618614">
                <a:moveTo>
                  <a:pt x="0" y="1653539"/>
                </a:moveTo>
                <a:lnTo>
                  <a:pt x="1618487" y="1653539"/>
                </a:lnTo>
                <a:lnTo>
                  <a:pt x="1618487" y="0"/>
                </a:lnTo>
                <a:lnTo>
                  <a:pt x="0" y="0"/>
                </a:lnTo>
                <a:lnTo>
                  <a:pt x="0" y="1653539"/>
                </a:lnTo>
                <a:close/>
              </a:path>
            </a:pathLst>
          </a:custGeom>
          <a:noFill/>
          <a:ln cap="flat" cmpd="sng" w="259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 txBox="1"/>
          <p:nvPr/>
        </p:nvSpPr>
        <p:spPr>
          <a:xfrm>
            <a:off x="4049651" y="3527783"/>
            <a:ext cx="7048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inputs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8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7319903" y="3527783"/>
            <a:ext cx="9169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Outputs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 txBox="1"/>
          <p:nvPr/>
        </p:nvSpPr>
        <p:spPr>
          <a:xfrm>
            <a:off x="33324" y="1401911"/>
            <a:ext cx="119300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▪"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is understood only in terms of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its implementation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White Box</a:t>
            </a:r>
            <a:endParaRPr/>
          </a:p>
        </p:txBody>
      </p:sp>
      <p:sp>
        <p:nvSpPr>
          <p:cNvPr id="334" name="Google Shape;334;p29"/>
          <p:cNvSpPr/>
          <p:nvPr/>
        </p:nvSpPr>
        <p:spPr>
          <a:xfrm>
            <a:off x="4727448" y="3462528"/>
            <a:ext cx="2659380" cy="21244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4717541" y="3452623"/>
            <a:ext cx="2679700" cy="2144395"/>
          </a:xfrm>
          <a:custGeom>
            <a:rect b="b" l="l" r="r" t="t"/>
            <a:pathLst>
              <a:path extrusionOk="0" h="2144395" w="2679700">
                <a:moveTo>
                  <a:pt x="0" y="2144267"/>
                </a:moveTo>
                <a:lnTo>
                  <a:pt x="2679191" y="2144267"/>
                </a:lnTo>
                <a:lnTo>
                  <a:pt x="2679191" y="0"/>
                </a:lnTo>
                <a:lnTo>
                  <a:pt x="0" y="0"/>
                </a:lnTo>
                <a:lnTo>
                  <a:pt x="0" y="2144267"/>
                </a:lnTo>
                <a:close/>
              </a:path>
            </a:pathLst>
          </a:custGeom>
          <a:noFill/>
          <a:ln cap="flat" cmpd="sng" w="19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3390139" y="3959352"/>
            <a:ext cx="1337945" cy="160020"/>
          </a:xfrm>
          <a:custGeom>
            <a:rect b="b" l="l" r="r" t="t"/>
            <a:pathLst>
              <a:path extrusionOk="0" h="160020" w="1337945">
                <a:moveTo>
                  <a:pt x="1241419" y="80009"/>
                </a:moveTo>
                <a:lnTo>
                  <a:pt x="1177421" y="160019"/>
                </a:lnTo>
                <a:lnTo>
                  <a:pt x="1305429" y="96011"/>
                </a:lnTo>
                <a:lnTo>
                  <a:pt x="1241419" y="96011"/>
                </a:lnTo>
                <a:lnTo>
                  <a:pt x="1241419" y="80009"/>
                </a:lnTo>
                <a:close/>
              </a:path>
              <a:path extrusionOk="0" h="160020" w="1337945">
                <a:moveTo>
                  <a:pt x="1228620" y="64007"/>
                </a:moveTo>
                <a:lnTo>
                  <a:pt x="0" y="64007"/>
                </a:lnTo>
                <a:lnTo>
                  <a:pt x="0" y="96011"/>
                </a:lnTo>
                <a:lnTo>
                  <a:pt x="1228620" y="96011"/>
                </a:lnTo>
                <a:lnTo>
                  <a:pt x="1241419" y="80009"/>
                </a:lnTo>
                <a:lnTo>
                  <a:pt x="1228620" y="64007"/>
                </a:lnTo>
                <a:close/>
              </a:path>
              <a:path extrusionOk="0" h="160020" w="1337945">
                <a:moveTo>
                  <a:pt x="1305429" y="64007"/>
                </a:moveTo>
                <a:lnTo>
                  <a:pt x="1241419" y="64007"/>
                </a:lnTo>
                <a:lnTo>
                  <a:pt x="1241419" y="96011"/>
                </a:lnTo>
                <a:lnTo>
                  <a:pt x="1305429" y="96011"/>
                </a:lnTo>
                <a:lnTo>
                  <a:pt x="1337431" y="80009"/>
                </a:lnTo>
                <a:lnTo>
                  <a:pt x="1305429" y="64007"/>
                </a:lnTo>
                <a:close/>
              </a:path>
              <a:path extrusionOk="0" h="160020" w="1337945">
                <a:moveTo>
                  <a:pt x="1177421" y="0"/>
                </a:moveTo>
                <a:lnTo>
                  <a:pt x="1241419" y="80009"/>
                </a:lnTo>
                <a:lnTo>
                  <a:pt x="1241419" y="64007"/>
                </a:lnTo>
                <a:lnTo>
                  <a:pt x="1305429" y="64007"/>
                </a:lnTo>
                <a:lnTo>
                  <a:pt x="117742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3390139" y="4492752"/>
            <a:ext cx="1337945" cy="160020"/>
          </a:xfrm>
          <a:custGeom>
            <a:rect b="b" l="l" r="r" t="t"/>
            <a:pathLst>
              <a:path extrusionOk="0" h="160020" w="1337945">
                <a:moveTo>
                  <a:pt x="1241419" y="80009"/>
                </a:moveTo>
                <a:lnTo>
                  <a:pt x="1177421" y="160019"/>
                </a:lnTo>
                <a:lnTo>
                  <a:pt x="1305429" y="96011"/>
                </a:lnTo>
                <a:lnTo>
                  <a:pt x="1241419" y="96011"/>
                </a:lnTo>
                <a:lnTo>
                  <a:pt x="1241419" y="80009"/>
                </a:lnTo>
                <a:close/>
              </a:path>
              <a:path extrusionOk="0" h="160020" w="1337945">
                <a:moveTo>
                  <a:pt x="1228620" y="64007"/>
                </a:moveTo>
                <a:lnTo>
                  <a:pt x="0" y="64007"/>
                </a:lnTo>
                <a:lnTo>
                  <a:pt x="0" y="96011"/>
                </a:lnTo>
                <a:lnTo>
                  <a:pt x="1228620" y="96011"/>
                </a:lnTo>
                <a:lnTo>
                  <a:pt x="1241419" y="80009"/>
                </a:lnTo>
                <a:lnTo>
                  <a:pt x="1228620" y="64007"/>
                </a:lnTo>
                <a:close/>
              </a:path>
              <a:path extrusionOk="0" h="160020" w="1337945">
                <a:moveTo>
                  <a:pt x="1305429" y="64007"/>
                </a:moveTo>
                <a:lnTo>
                  <a:pt x="1241419" y="64007"/>
                </a:lnTo>
                <a:lnTo>
                  <a:pt x="1241419" y="96011"/>
                </a:lnTo>
                <a:lnTo>
                  <a:pt x="1305429" y="96011"/>
                </a:lnTo>
                <a:lnTo>
                  <a:pt x="1337431" y="80009"/>
                </a:lnTo>
                <a:lnTo>
                  <a:pt x="1305429" y="64007"/>
                </a:lnTo>
                <a:close/>
              </a:path>
              <a:path extrusionOk="0" h="160020" w="1337945">
                <a:moveTo>
                  <a:pt x="1177421" y="0"/>
                </a:moveTo>
                <a:lnTo>
                  <a:pt x="1241419" y="80009"/>
                </a:lnTo>
                <a:lnTo>
                  <a:pt x="1241419" y="64007"/>
                </a:lnTo>
                <a:lnTo>
                  <a:pt x="1305429" y="64007"/>
                </a:lnTo>
                <a:lnTo>
                  <a:pt x="117742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3390139" y="5026152"/>
            <a:ext cx="1337945" cy="160020"/>
          </a:xfrm>
          <a:custGeom>
            <a:rect b="b" l="l" r="r" t="t"/>
            <a:pathLst>
              <a:path extrusionOk="0" h="160020" w="1337945">
                <a:moveTo>
                  <a:pt x="1241419" y="80009"/>
                </a:moveTo>
                <a:lnTo>
                  <a:pt x="1177421" y="160019"/>
                </a:lnTo>
                <a:lnTo>
                  <a:pt x="1305429" y="96011"/>
                </a:lnTo>
                <a:lnTo>
                  <a:pt x="1241419" y="96011"/>
                </a:lnTo>
                <a:lnTo>
                  <a:pt x="1241419" y="80009"/>
                </a:lnTo>
                <a:close/>
              </a:path>
              <a:path extrusionOk="0" h="160020" w="1337945">
                <a:moveTo>
                  <a:pt x="1228620" y="64007"/>
                </a:moveTo>
                <a:lnTo>
                  <a:pt x="0" y="64007"/>
                </a:lnTo>
                <a:lnTo>
                  <a:pt x="0" y="96011"/>
                </a:lnTo>
                <a:lnTo>
                  <a:pt x="1228620" y="96011"/>
                </a:lnTo>
                <a:lnTo>
                  <a:pt x="1241419" y="80009"/>
                </a:lnTo>
                <a:lnTo>
                  <a:pt x="1228620" y="64007"/>
                </a:lnTo>
                <a:close/>
              </a:path>
              <a:path extrusionOk="0" h="160020" w="1337945">
                <a:moveTo>
                  <a:pt x="1305429" y="64007"/>
                </a:moveTo>
                <a:lnTo>
                  <a:pt x="1241419" y="64007"/>
                </a:lnTo>
                <a:lnTo>
                  <a:pt x="1241419" y="96011"/>
                </a:lnTo>
                <a:lnTo>
                  <a:pt x="1305429" y="96011"/>
                </a:lnTo>
                <a:lnTo>
                  <a:pt x="1337431" y="80009"/>
                </a:lnTo>
                <a:lnTo>
                  <a:pt x="1305429" y="64007"/>
                </a:lnTo>
                <a:close/>
              </a:path>
              <a:path extrusionOk="0" h="160020" w="1337945">
                <a:moveTo>
                  <a:pt x="1177421" y="0"/>
                </a:moveTo>
                <a:lnTo>
                  <a:pt x="1241419" y="80009"/>
                </a:lnTo>
                <a:lnTo>
                  <a:pt x="1241419" y="64007"/>
                </a:lnTo>
                <a:lnTo>
                  <a:pt x="1305429" y="64007"/>
                </a:lnTo>
                <a:lnTo>
                  <a:pt x="117742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9"/>
          <p:cNvSpPr/>
          <p:nvPr/>
        </p:nvSpPr>
        <p:spPr>
          <a:xfrm>
            <a:off x="7387590" y="4145279"/>
            <a:ext cx="1414145" cy="160020"/>
          </a:xfrm>
          <a:custGeom>
            <a:rect b="b" l="l" r="r" t="t"/>
            <a:pathLst>
              <a:path extrusionOk="0" h="160020" w="1414145">
                <a:moveTo>
                  <a:pt x="1317619" y="80009"/>
                </a:moveTo>
                <a:lnTo>
                  <a:pt x="1253611" y="160019"/>
                </a:lnTo>
                <a:lnTo>
                  <a:pt x="1381627" y="96011"/>
                </a:lnTo>
                <a:lnTo>
                  <a:pt x="1317619" y="96011"/>
                </a:lnTo>
                <a:lnTo>
                  <a:pt x="1317619" y="80009"/>
                </a:lnTo>
                <a:close/>
              </a:path>
              <a:path extrusionOk="0" h="160020" w="1414145">
                <a:moveTo>
                  <a:pt x="1304818" y="64007"/>
                </a:moveTo>
                <a:lnTo>
                  <a:pt x="0" y="64007"/>
                </a:lnTo>
                <a:lnTo>
                  <a:pt x="0" y="96011"/>
                </a:lnTo>
                <a:lnTo>
                  <a:pt x="1304818" y="96011"/>
                </a:lnTo>
                <a:lnTo>
                  <a:pt x="1317619" y="80009"/>
                </a:lnTo>
                <a:lnTo>
                  <a:pt x="1304818" y="64007"/>
                </a:lnTo>
                <a:close/>
              </a:path>
              <a:path extrusionOk="0" h="160020" w="1414145">
                <a:moveTo>
                  <a:pt x="1381627" y="64007"/>
                </a:moveTo>
                <a:lnTo>
                  <a:pt x="1317619" y="64007"/>
                </a:lnTo>
                <a:lnTo>
                  <a:pt x="1317619" y="96011"/>
                </a:lnTo>
                <a:lnTo>
                  <a:pt x="1381627" y="96011"/>
                </a:lnTo>
                <a:lnTo>
                  <a:pt x="1413631" y="80009"/>
                </a:lnTo>
                <a:lnTo>
                  <a:pt x="1381627" y="64007"/>
                </a:lnTo>
                <a:close/>
              </a:path>
              <a:path extrusionOk="0" h="160020" w="1414145">
                <a:moveTo>
                  <a:pt x="1253611" y="0"/>
                </a:moveTo>
                <a:lnTo>
                  <a:pt x="1317619" y="80009"/>
                </a:lnTo>
                <a:lnTo>
                  <a:pt x="1317619" y="64007"/>
                </a:lnTo>
                <a:lnTo>
                  <a:pt x="1381627" y="64007"/>
                </a:lnTo>
                <a:lnTo>
                  <a:pt x="125361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7387590" y="4754879"/>
            <a:ext cx="1414145" cy="160020"/>
          </a:xfrm>
          <a:custGeom>
            <a:rect b="b" l="l" r="r" t="t"/>
            <a:pathLst>
              <a:path extrusionOk="0" h="160020" w="1414145">
                <a:moveTo>
                  <a:pt x="1317619" y="80009"/>
                </a:moveTo>
                <a:lnTo>
                  <a:pt x="1253611" y="160019"/>
                </a:lnTo>
                <a:lnTo>
                  <a:pt x="1381627" y="96011"/>
                </a:lnTo>
                <a:lnTo>
                  <a:pt x="1317619" y="96011"/>
                </a:lnTo>
                <a:lnTo>
                  <a:pt x="1317619" y="80009"/>
                </a:lnTo>
                <a:close/>
              </a:path>
              <a:path extrusionOk="0" h="160020" w="1414145">
                <a:moveTo>
                  <a:pt x="1304818" y="64007"/>
                </a:moveTo>
                <a:lnTo>
                  <a:pt x="0" y="64007"/>
                </a:lnTo>
                <a:lnTo>
                  <a:pt x="0" y="96011"/>
                </a:lnTo>
                <a:lnTo>
                  <a:pt x="1304818" y="96011"/>
                </a:lnTo>
                <a:lnTo>
                  <a:pt x="1317619" y="80009"/>
                </a:lnTo>
                <a:lnTo>
                  <a:pt x="1304818" y="64007"/>
                </a:lnTo>
                <a:close/>
              </a:path>
              <a:path extrusionOk="0" h="160020" w="1414145">
                <a:moveTo>
                  <a:pt x="1381627" y="64007"/>
                </a:moveTo>
                <a:lnTo>
                  <a:pt x="1317619" y="64007"/>
                </a:lnTo>
                <a:lnTo>
                  <a:pt x="1317619" y="96011"/>
                </a:lnTo>
                <a:lnTo>
                  <a:pt x="1381627" y="96011"/>
                </a:lnTo>
                <a:lnTo>
                  <a:pt x="1413631" y="80009"/>
                </a:lnTo>
                <a:lnTo>
                  <a:pt x="1381627" y="64007"/>
                </a:lnTo>
                <a:close/>
              </a:path>
              <a:path extrusionOk="0" h="160020" w="1414145">
                <a:moveTo>
                  <a:pt x="1253611" y="0"/>
                </a:moveTo>
                <a:lnTo>
                  <a:pt x="1317619" y="80009"/>
                </a:lnTo>
                <a:lnTo>
                  <a:pt x="1317619" y="64007"/>
                </a:lnTo>
                <a:lnTo>
                  <a:pt x="1381627" y="64007"/>
                </a:lnTo>
                <a:lnTo>
                  <a:pt x="125361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9"/>
          <p:cNvSpPr txBox="1"/>
          <p:nvPr/>
        </p:nvSpPr>
        <p:spPr>
          <a:xfrm>
            <a:off x="3648203" y="3479015"/>
            <a:ext cx="7048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inputs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9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7632324" y="3495529"/>
            <a:ext cx="9169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Outputs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 txBox="1"/>
          <p:nvPr>
            <p:ph type="title"/>
          </p:nvPr>
        </p:nvSpPr>
        <p:spPr>
          <a:xfrm>
            <a:off x="710937" y="213236"/>
            <a:ext cx="1077012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 (Strategy) of testing</a:t>
            </a:r>
            <a:endParaRPr/>
          </a:p>
        </p:txBody>
      </p:sp>
      <p:sp>
        <p:nvSpPr>
          <p:cNvPr id="350" name="Google Shape;350;p30"/>
          <p:cNvSpPr txBox="1"/>
          <p:nvPr/>
        </p:nvSpPr>
        <p:spPr>
          <a:xfrm>
            <a:off x="0" y="1127636"/>
            <a:ext cx="12192000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508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Black-box: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strategy in which testing is based on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requirements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specifications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White-box: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strategy in which testing is also</a:t>
            </a:r>
            <a:endParaRPr/>
          </a:p>
          <a:p>
            <a:pPr indent="0" lvl="0" marL="35496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internal paths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implementat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0"/>
          <p:cNvSpPr txBox="1"/>
          <p:nvPr>
            <p:ph idx="12" type="sldNum"/>
          </p:nvPr>
        </p:nvSpPr>
        <p:spPr>
          <a:xfrm>
            <a:off x="304255" y="6475139"/>
            <a:ext cx="457200" cy="28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2015-09-23T19:44:43Z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2015-09-23T00:00:00Z</vt:filetime>
  </property>
  <property fmtid="{D5CDD505-2E9C-101B-9397-08002B2CF9AE}" pid="3" name="LastSaved">
    <vt:filetime>2015-09-23T00:00:00Z</vt:filetime>
  </property>
</Properties>
</file>