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Roboto"/>
      <p:regular r:id="rId30"/>
      <p:bold r:id="rId31"/>
      <p:italic r:id="rId32"/>
      <p:boldItalic r:id="rId33"/>
    </p:embeddedFont>
    <p:embeddedFont>
      <p:font typeface="Nunit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8" roundtripDataSignature="AMtx7mh2Bh54KkWfY1LLwHUyQ0zCyRZh2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6.xml"/><Relationship Id="rId33" Type="http://schemas.openxmlformats.org/officeDocument/2006/relationships/font" Target="fonts/Roboto-boldItalic.fntdata"/><Relationship Id="rId10" Type="http://schemas.openxmlformats.org/officeDocument/2006/relationships/slide" Target="slides/slide5.xml"/><Relationship Id="rId32" Type="http://schemas.openxmlformats.org/officeDocument/2006/relationships/font" Target="fonts/Roboto-italic.fntdata"/><Relationship Id="rId13" Type="http://schemas.openxmlformats.org/officeDocument/2006/relationships/slide" Target="slides/slide8.xml"/><Relationship Id="rId35" Type="http://schemas.openxmlformats.org/officeDocument/2006/relationships/font" Target="fonts/Nunito-bold.fntdata"/><Relationship Id="rId12" Type="http://schemas.openxmlformats.org/officeDocument/2006/relationships/slide" Target="slides/slide7.xml"/><Relationship Id="rId34" Type="http://schemas.openxmlformats.org/officeDocument/2006/relationships/font" Target="fonts/Nunito-regular.fntdata"/><Relationship Id="rId15" Type="http://schemas.openxmlformats.org/officeDocument/2006/relationships/slide" Target="slides/slide10.xml"/><Relationship Id="rId37" Type="http://schemas.openxmlformats.org/officeDocument/2006/relationships/font" Target="fonts/Nunito-boldItalic.fntdata"/><Relationship Id="rId14" Type="http://schemas.openxmlformats.org/officeDocument/2006/relationships/slide" Target="slides/slide9.xml"/><Relationship Id="rId36" Type="http://schemas.openxmlformats.org/officeDocument/2006/relationships/font" Target="fonts/Nunito-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c91b5e2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c91b5e2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t/>
            </a:r>
            <a:endParaRPr sz="1800">
              <a:solidFill>
                <a:schemeClr val="dk1"/>
              </a:solidFill>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t/>
            </a:r>
            <a:endParaRPr sz="1800">
              <a:solidFill>
                <a:schemeClr val="dk1"/>
              </a:solidFill>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t/>
            </a:r>
            <a:endParaRPr sz="1800">
              <a:solidFill>
                <a:schemeClr val="dk1"/>
              </a:solidFill>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t/>
            </a:r>
            <a:endParaRPr sz="1800">
              <a:solidFill>
                <a:schemeClr val="dk1"/>
              </a:solidFill>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t/>
            </a:r>
            <a:endParaRPr sz="1800">
              <a:solidFill>
                <a:schemeClr val="dk1"/>
              </a:solidFill>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t/>
            </a:r>
            <a:endParaRPr sz="1800">
              <a:solidFill>
                <a:schemeClr val="dk1"/>
              </a:solidFill>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t/>
            </a:r>
            <a:endParaRPr sz="1800">
              <a:solidFill>
                <a:schemeClr val="dk1"/>
              </a:solidFill>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t/>
            </a:r>
            <a:endParaRPr sz="1800">
              <a:solidFill>
                <a:schemeClr val="dk1"/>
              </a:solidFill>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t/>
            </a:r>
            <a:endParaRPr sz="1800">
              <a:solidFill>
                <a:schemeClr val="dk1"/>
              </a:solidFill>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rPr lang="en-GB" sz="1800">
                <a:solidFill>
                  <a:schemeClr val="dk1"/>
                </a:solidFill>
                <a:latin typeface="Roboto"/>
                <a:ea typeface="Roboto"/>
                <a:cs typeface="Roboto"/>
                <a:sym typeface="Roboto"/>
              </a:rPr>
              <a:t>https://csrc.nist.gov/glossary/term/condition_coverage#:~:text=Definitions%3A,not%20guarantee%20100%25%20decision%20coverage.</a:t>
            </a:r>
            <a:endParaRPr sz="1800">
              <a:solidFill>
                <a:schemeClr val="dk1"/>
              </a:solidFill>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t/>
            </a:r>
            <a:endParaRPr sz="1800">
              <a:solidFill>
                <a:schemeClr val="dk1"/>
              </a:solidFill>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t/>
            </a:r>
            <a:endParaRPr sz="1800">
              <a:solidFill>
                <a:schemeClr val="dk1"/>
              </a:solidFill>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t/>
            </a:r>
            <a:endParaRPr sz="1800">
              <a:solidFill>
                <a:schemeClr val="dk1"/>
              </a:solidFill>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t/>
            </a:r>
            <a:endParaRPr sz="1800">
              <a:solidFill>
                <a:schemeClr val="dk1"/>
              </a:solidFill>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t/>
            </a:r>
            <a:endParaRPr sz="1800">
              <a:solidFill>
                <a:schemeClr val="dk1"/>
              </a:solidFill>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t/>
            </a:r>
            <a:endParaRPr sz="1800">
              <a:solidFill>
                <a:schemeClr val="dk1"/>
              </a:solidFill>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t/>
            </a:r>
            <a:endParaRPr sz="1800">
              <a:solidFill>
                <a:schemeClr val="dk1"/>
              </a:solidFill>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rPr lang="en-GB" sz="1150">
                <a:solidFill>
                  <a:schemeClr val="dk1"/>
                </a:solidFill>
                <a:highlight>
                  <a:srgbClr val="FFFFFF"/>
                </a:highlight>
                <a:latin typeface="Verdana"/>
                <a:ea typeface="Verdana"/>
                <a:cs typeface="Verdana"/>
                <a:sym typeface="Verdana"/>
              </a:rPr>
              <a:t>The cyclomatic complexity V(G) is said to be a metric for a program's logical complexity. </a:t>
            </a:r>
            <a:endParaRPr sz="1800">
              <a:solidFill>
                <a:schemeClr val="dk1"/>
              </a:solidFill>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t/>
            </a:r>
            <a:endParaRPr sz="1800">
              <a:solidFill>
                <a:schemeClr val="dk1"/>
              </a:solidFill>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ac91b5e27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ac91b5e27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4"/>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4"/>
          <p:cNvSpPr/>
          <p:nvPr/>
        </p:nvSpPr>
        <p:spPr>
          <a:xfrm flipH="1">
            <a:off x="8246400" y="4245875"/>
            <a:ext cx="897600" cy="897600"/>
          </a:xfrm>
          <a:prstGeom prst="round1Rect">
            <a:avLst>
              <a:gd fmla="val 16667" name="adj"/>
            </a:avLst>
          </a:prstGeom>
          <a:solidFill>
            <a:schemeClr val="lt1">
              <a:alpha val="67843"/>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4"/>
          <p:cNvSpPr txBox="1"/>
          <p:nvPr>
            <p:ph type="ctrTitle"/>
          </p:nvPr>
        </p:nvSpPr>
        <p:spPr>
          <a:xfrm>
            <a:off x="390525" y="1819275"/>
            <a:ext cx="8222100" cy="9336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3" name="Google Shape;13;p24"/>
          <p:cNvSpPr txBox="1"/>
          <p:nvPr>
            <p:ph idx="1" type="subTitle"/>
          </p:nvPr>
        </p:nvSpPr>
        <p:spPr>
          <a:xfrm>
            <a:off x="390525" y="2789130"/>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1800"/>
              <a:buNone/>
              <a:defRPr>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4"/>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2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25"/>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19" name="Google Shape;19;p25"/>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25"/>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1" name="Shape 21"/>
        <p:cNvGrpSpPr/>
        <p:nvPr/>
      </p:nvGrpSpPr>
      <p:grpSpPr>
        <a:xfrm>
          <a:off x="0" y="0"/>
          <a:ext cx="0" cy="0"/>
          <a:chOff x="0" y="0"/>
          <a:chExt cx="0" cy="0"/>
        </a:xfrm>
      </p:grpSpPr>
      <p:sp>
        <p:nvSpPr>
          <p:cNvPr id="22" name="Google Shape;22;p26"/>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26"/>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6"/>
          <p:cNvSpPr txBox="1"/>
          <p:nvPr>
            <p:ph idx="1" type="body"/>
          </p:nvPr>
        </p:nvSpPr>
        <p:spPr>
          <a:xfrm>
            <a:off x="57150" y="4696825"/>
            <a:ext cx="8382000" cy="4467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Clr>
                <a:schemeClr val="lt1"/>
              </a:buClr>
              <a:buSzPts val="1200"/>
              <a:buNone/>
              <a:defRPr sz="1200">
                <a:solidFill>
                  <a:schemeClr val="lt1"/>
                </a:solidFill>
              </a:defRPr>
            </a:lvl1pPr>
          </a:lstStyle>
          <a:p/>
        </p:txBody>
      </p:sp>
      <p:sp>
        <p:nvSpPr>
          <p:cNvPr id="25" name="Google Shape;25;p26"/>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27"/>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7"/>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7"/>
          <p:cNvSpPr txBox="1"/>
          <p:nvPr>
            <p:ph type="title"/>
          </p:nvPr>
        </p:nvSpPr>
        <p:spPr>
          <a:xfrm>
            <a:off x="98250" y="16350"/>
            <a:ext cx="8826600" cy="602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30" name="Google Shape;30;p27"/>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28"/>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8"/>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8"/>
          <p:cNvSpPr txBox="1"/>
          <p:nvPr>
            <p:ph type="title"/>
          </p:nvPr>
        </p:nvSpPr>
        <p:spPr>
          <a:xfrm>
            <a:off x="226078" y="357800"/>
            <a:ext cx="2808000" cy="9534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5" name="Google Shape;35;p28"/>
          <p:cNvSpPr txBox="1"/>
          <p:nvPr>
            <p:ph idx="1" type="body"/>
          </p:nvPr>
        </p:nvSpPr>
        <p:spPr>
          <a:xfrm>
            <a:off x="226075" y="1465800"/>
            <a:ext cx="2808000" cy="31635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Clr>
                <a:schemeClr val="lt1"/>
              </a:buClr>
              <a:buSzPts val="1200"/>
              <a:buChar char="●"/>
              <a:defRPr sz="1200">
                <a:solidFill>
                  <a:schemeClr val="lt1"/>
                </a:solidFill>
              </a:defRPr>
            </a:lvl1pPr>
            <a:lvl2pPr indent="-304800" lvl="1" marL="914400" algn="l">
              <a:lnSpc>
                <a:spcPct val="115000"/>
              </a:lnSpc>
              <a:spcBef>
                <a:spcPts val="0"/>
              </a:spcBef>
              <a:spcAft>
                <a:spcPts val="0"/>
              </a:spcAft>
              <a:buClr>
                <a:schemeClr val="lt1"/>
              </a:buClr>
              <a:buSzPts val="1200"/>
              <a:buChar char="○"/>
              <a:defRPr sz="1200">
                <a:solidFill>
                  <a:schemeClr val="lt1"/>
                </a:solidFill>
              </a:defRPr>
            </a:lvl2pPr>
            <a:lvl3pPr indent="-304800" lvl="2" marL="1371600" algn="l">
              <a:lnSpc>
                <a:spcPct val="115000"/>
              </a:lnSpc>
              <a:spcBef>
                <a:spcPts val="0"/>
              </a:spcBef>
              <a:spcAft>
                <a:spcPts val="0"/>
              </a:spcAft>
              <a:buClr>
                <a:schemeClr val="lt1"/>
              </a:buClr>
              <a:buSzPts val="1200"/>
              <a:buChar char="■"/>
              <a:defRPr sz="1200">
                <a:solidFill>
                  <a:schemeClr val="lt1"/>
                </a:solidFill>
              </a:defRPr>
            </a:lvl3pPr>
            <a:lvl4pPr indent="-304800" lvl="3" marL="1828800" algn="l">
              <a:lnSpc>
                <a:spcPct val="115000"/>
              </a:lnSpc>
              <a:spcBef>
                <a:spcPts val="0"/>
              </a:spcBef>
              <a:spcAft>
                <a:spcPts val="0"/>
              </a:spcAft>
              <a:buClr>
                <a:schemeClr val="lt1"/>
              </a:buClr>
              <a:buSzPts val="1200"/>
              <a:buChar char="●"/>
              <a:defRPr sz="1200">
                <a:solidFill>
                  <a:schemeClr val="lt1"/>
                </a:solidFill>
              </a:defRPr>
            </a:lvl4pPr>
            <a:lvl5pPr indent="-304800" lvl="4" marL="2286000" algn="l">
              <a:lnSpc>
                <a:spcPct val="115000"/>
              </a:lnSpc>
              <a:spcBef>
                <a:spcPts val="0"/>
              </a:spcBef>
              <a:spcAft>
                <a:spcPts val="0"/>
              </a:spcAft>
              <a:buClr>
                <a:schemeClr val="lt1"/>
              </a:buClr>
              <a:buSzPts val="1200"/>
              <a:buChar char="○"/>
              <a:defRPr sz="1200">
                <a:solidFill>
                  <a:schemeClr val="lt1"/>
                </a:solidFill>
              </a:defRPr>
            </a:lvl5pPr>
            <a:lvl6pPr indent="-304800" lvl="5" marL="2743200" algn="l">
              <a:lnSpc>
                <a:spcPct val="115000"/>
              </a:lnSpc>
              <a:spcBef>
                <a:spcPts val="0"/>
              </a:spcBef>
              <a:spcAft>
                <a:spcPts val="0"/>
              </a:spcAft>
              <a:buClr>
                <a:schemeClr val="lt1"/>
              </a:buClr>
              <a:buSzPts val="1200"/>
              <a:buChar char="■"/>
              <a:defRPr sz="1200">
                <a:solidFill>
                  <a:schemeClr val="lt1"/>
                </a:solidFill>
              </a:defRPr>
            </a:lvl6pPr>
            <a:lvl7pPr indent="-304800" lvl="6" marL="3200400" algn="l">
              <a:lnSpc>
                <a:spcPct val="115000"/>
              </a:lnSpc>
              <a:spcBef>
                <a:spcPts val="0"/>
              </a:spcBef>
              <a:spcAft>
                <a:spcPts val="0"/>
              </a:spcAft>
              <a:buClr>
                <a:schemeClr val="lt1"/>
              </a:buClr>
              <a:buSzPts val="1200"/>
              <a:buChar char="●"/>
              <a:defRPr sz="1200">
                <a:solidFill>
                  <a:schemeClr val="lt1"/>
                </a:solidFill>
              </a:defRPr>
            </a:lvl7pPr>
            <a:lvl8pPr indent="-304800" lvl="7" marL="3657600" algn="l">
              <a:lnSpc>
                <a:spcPct val="115000"/>
              </a:lnSpc>
              <a:spcBef>
                <a:spcPts val="0"/>
              </a:spcBef>
              <a:spcAft>
                <a:spcPts val="0"/>
              </a:spcAft>
              <a:buClr>
                <a:schemeClr val="lt1"/>
              </a:buClr>
              <a:buSzPts val="1200"/>
              <a:buChar char="○"/>
              <a:defRPr sz="1200">
                <a:solidFill>
                  <a:schemeClr val="lt1"/>
                </a:solidFill>
              </a:defRPr>
            </a:lvl8pPr>
            <a:lvl9pPr indent="-304800" lvl="8" marL="4114800" algn="l">
              <a:lnSpc>
                <a:spcPct val="115000"/>
              </a:lnSpc>
              <a:spcBef>
                <a:spcPts val="0"/>
              </a:spcBef>
              <a:spcAft>
                <a:spcPts val="0"/>
              </a:spcAft>
              <a:buClr>
                <a:schemeClr val="lt1"/>
              </a:buClr>
              <a:buSzPts val="1200"/>
              <a:buChar char="■"/>
              <a:defRPr sz="1200">
                <a:solidFill>
                  <a:schemeClr val="lt1"/>
                </a:solidFill>
              </a:defRPr>
            </a:lvl9pPr>
          </a:lstStyle>
          <a:p/>
        </p:txBody>
      </p:sp>
      <p:sp>
        <p:nvSpPr>
          <p:cNvPr id="36" name="Google Shape;36;p28"/>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29"/>
          <p:cNvSpPr txBox="1"/>
          <p:nvPr>
            <p:ph type="title"/>
          </p:nvPr>
        </p:nvSpPr>
        <p:spPr>
          <a:xfrm>
            <a:off x="460950" y="2065350"/>
            <a:ext cx="8222100" cy="1012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39" name="Google Shape;39;p29"/>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p30"/>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30"/>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30"/>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44" name="Google Shape;44;p30"/>
          <p:cNvSpPr txBox="1"/>
          <p:nvPr>
            <p:ph idx="1" type="body"/>
          </p:nvPr>
        </p:nvSpPr>
        <p:spPr>
          <a:xfrm>
            <a:off x="471900" y="1919075"/>
            <a:ext cx="3999900" cy="2710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5" name="Google Shape;45;p30"/>
          <p:cNvSpPr txBox="1"/>
          <p:nvPr>
            <p:ph idx="2" type="body"/>
          </p:nvPr>
        </p:nvSpPr>
        <p:spPr>
          <a:xfrm>
            <a:off x="4694250" y="1919075"/>
            <a:ext cx="3999900" cy="2710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6" name="Google Shape;46;p30"/>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7" name="Shape 47"/>
        <p:cNvGrpSpPr/>
        <p:nvPr/>
      </p:nvGrpSpPr>
      <p:grpSpPr>
        <a:xfrm>
          <a:off x="0" y="0"/>
          <a:ext cx="0" cy="0"/>
          <a:chOff x="0" y="0"/>
          <a:chExt cx="0" cy="0"/>
        </a:xfrm>
      </p:grpSpPr>
      <p:sp>
        <p:nvSpPr>
          <p:cNvPr id="48" name="Google Shape;48;p31"/>
          <p:cNvSpPr txBox="1"/>
          <p:nvPr>
            <p:ph type="title"/>
          </p:nvPr>
        </p:nvSpPr>
        <p:spPr>
          <a:xfrm>
            <a:off x="490250" y="488250"/>
            <a:ext cx="62271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49" name="Google Shape;49;p3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0" name="Shape 50"/>
        <p:cNvGrpSpPr/>
        <p:nvPr/>
      </p:nvGrpSpPr>
      <p:grpSpPr>
        <a:xfrm>
          <a:off x="0" y="0"/>
          <a:ext cx="0" cy="0"/>
          <a:chOff x="0" y="0"/>
          <a:chExt cx="0" cy="0"/>
        </a:xfrm>
      </p:grpSpPr>
      <p:sp>
        <p:nvSpPr>
          <p:cNvPr id="51" name="Google Shape;51;p32"/>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32"/>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dk2"/>
              </a:buClr>
              <a:buSzPts val="4200"/>
              <a:buNone/>
              <a:defRPr sz="4200">
                <a:solidFill>
                  <a:schemeClr val="dk2"/>
                </a:solidFill>
              </a:defRPr>
            </a:lvl1pPr>
            <a:lvl2pPr lvl="1" algn="ctr">
              <a:lnSpc>
                <a:spcPct val="100000"/>
              </a:lnSpc>
              <a:spcBef>
                <a:spcPts val="0"/>
              </a:spcBef>
              <a:spcAft>
                <a:spcPts val="0"/>
              </a:spcAft>
              <a:buClr>
                <a:schemeClr val="dk2"/>
              </a:buClr>
              <a:buSzPts val="4200"/>
              <a:buNone/>
              <a:defRPr sz="4200">
                <a:solidFill>
                  <a:schemeClr val="dk2"/>
                </a:solidFill>
              </a:defRPr>
            </a:lvl2pPr>
            <a:lvl3pPr lvl="2" algn="ctr">
              <a:lnSpc>
                <a:spcPct val="100000"/>
              </a:lnSpc>
              <a:spcBef>
                <a:spcPts val="0"/>
              </a:spcBef>
              <a:spcAft>
                <a:spcPts val="0"/>
              </a:spcAft>
              <a:buClr>
                <a:schemeClr val="dk2"/>
              </a:buClr>
              <a:buSzPts val="4200"/>
              <a:buNone/>
              <a:defRPr sz="4200">
                <a:solidFill>
                  <a:schemeClr val="dk2"/>
                </a:solidFill>
              </a:defRPr>
            </a:lvl3pPr>
            <a:lvl4pPr lvl="3" algn="ctr">
              <a:lnSpc>
                <a:spcPct val="100000"/>
              </a:lnSpc>
              <a:spcBef>
                <a:spcPts val="0"/>
              </a:spcBef>
              <a:spcAft>
                <a:spcPts val="0"/>
              </a:spcAft>
              <a:buClr>
                <a:schemeClr val="dk2"/>
              </a:buClr>
              <a:buSzPts val="4200"/>
              <a:buNone/>
              <a:defRPr sz="4200">
                <a:solidFill>
                  <a:schemeClr val="dk2"/>
                </a:solidFill>
              </a:defRPr>
            </a:lvl4pPr>
            <a:lvl5pPr lvl="4" algn="ctr">
              <a:lnSpc>
                <a:spcPct val="100000"/>
              </a:lnSpc>
              <a:spcBef>
                <a:spcPts val="0"/>
              </a:spcBef>
              <a:spcAft>
                <a:spcPts val="0"/>
              </a:spcAft>
              <a:buClr>
                <a:schemeClr val="dk2"/>
              </a:buClr>
              <a:buSzPts val="4200"/>
              <a:buNone/>
              <a:defRPr sz="4200">
                <a:solidFill>
                  <a:schemeClr val="dk2"/>
                </a:solidFill>
              </a:defRPr>
            </a:lvl5pPr>
            <a:lvl6pPr lvl="5" algn="ctr">
              <a:lnSpc>
                <a:spcPct val="100000"/>
              </a:lnSpc>
              <a:spcBef>
                <a:spcPts val="0"/>
              </a:spcBef>
              <a:spcAft>
                <a:spcPts val="0"/>
              </a:spcAft>
              <a:buClr>
                <a:schemeClr val="dk2"/>
              </a:buClr>
              <a:buSzPts val="4200"/>
              <a:buNone/>
              <a:defRPr sz="4200">
                <a:solidFill>
                  <a:schemeClr val="dk2"/>
                </a:solidFill>
              </a:defRPr>
            </a:lvl6pPr>
            <a:lvl7pPr lvl="6" algn="ctr">
              <a:lnSpc>
                <a:spcPct val="100000"/>
              </a:lnSpc>
              <a:spcBef>
                <a:spcPts val="0"/>
              </a:spcBef>
              <a:spcAft>
                <a:spcPts val="0"/>
              </a:spcAft>
              <a:buClr>
                <a:schemeClr val="dk2"/>
              </a:buClr>
              <a:buSzPts val="4200"/>
              <a:buNone/>
              <a:defRPr sz="4200">
                <a:solidFill>
                  <a:schemeClr val="dk2"/>
                </a:solidFill>
              </a:defRPr>
            </a:lvl7pPr>
            <a:lvl8pPr lvl="7" algn="ctr">
              <a:lnSpc>
                <a:spcPct val="100000"/>
              </a:lnSpc>
              <a:spcBef>
                <a:spcPts val="0"/>
              </a:spcBef>
              <a:spcAft>
                <a:spcPts val="0"/>
              </a:spcAft>
              <a:buClr>
                <a:schemeClr val="dk2"/>
              </a:buClr>
              <a:buSzPts val="4200"/>
              <a:buNone/>
              <a:defRPr sz="4200">
                <a:solidFill>
                  <a:schemeClr val="dk2"/>
                </a:solidFill>
              </a:defRPr>
            </a:lvl8pPr>
            <a:lvl9pPr lvl="8" algn="ctr">
              <a:lnSpc>
                <a:spcPct val="100000"/>
              </a:lnSpc>
              <a:spcBef>
                <a:spcPts val="0"/>
              </a:spcBef>
              <a:spcAft>
                <a:spcPts val="0"/>
              </a:spcAft>
              <a:buClr>
                <a:schemeClr val="dk2"/>
              </a:buClr>
              <a:buSzPts val="4200"/>
              <a:buNone/>
              <a:defRPr sz="4200">
                <a:solidFill>
                  <a:schemeClr val="dk2"/>
                </a:solidFill>
              </a:defRPr>
            </a:lvl9pPr>
          </a:lstStyle>
          <a:p/>
        </p:txBody>
      </p:sp>
      <p:sp>
        <p:nvSpPr>
          <p:cNvPr id="54" name="Google Shape;54;p32"/>
          <p:cNvSpPr txBox="1"/>
          <p:nvPr>
            <p:ph idx="1" type="subTitle"/>
          </p:nvPr>
        </p:nvSpPr>
        <p:spPr>
          <a:xfrm>
            <a:off x="265500" y="2779467"/>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32"/>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56" name="Google Shape;56;p32"/>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33"/>
          <p:cNvSpPr txBox="1"/>
          <p:nvPr>
            <p:ph hasCustomPrompt="1" type="title"/>
          </p:nvPr>
        </p:nvSpPr>
        <p:spPr>
          <a:xfrm>
            <a:off x="475500" y="1258525"/>
            <a:ext cx="82221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dk2"/>
              </a:buClr>
              <a:buSzPts val="12000"/>
              <a:buNone/>
              <a:defRPr sz="12000">
                <a:solidFill>
                  <a:schemeClr val="dk2"/>
                </a:solidFill>
              </a:defRPr>
            </a:lvl1pPr>
            <a:lvl2pPr lvl="1" algn="ctr">
              <a:lnSpc>
                <a:spcPct val="100000"/>
              </a:lnSpc>
              <a:spcBef>
                <a:spcPts val="0"/>
              </a:spcBef>
              <a:spcAft>
                <a:spcPts val="0"/>
              </a:spcAft>
              <a:buClr>
                <a:schemeClr val="dk2"/>
              </a:buClr>
              <a:buSzPts val="12000"/>
              <a:buNone/>
              <a:defRPr sz="12000">
                <a:solidFill>
                  <a:schemeClr val="dk2"/>
                </a:solidFill>
              </a:defRPr>
            </a:lvl2pPr>
            <a:lvl3pPr lvl="2" algn="ctr">
              <a:lnSpc>
                <a:spcPct val="100000"/>
              </a:lnSpc>
              <a:spcBef>
                <a:spcPts val="0"/>
              </a:spcBef>
              <a:spcAft>
                <a:spcPts val="0"/>
              </a:spcAft>
              <a:buClr>
                <a:schemeClr val="dk2"/>
              </a:buClr>
              <a:buSzPts val="12000"/>
              <a:buNone/>
              <a:defRPr sz="12000">
                <a:solidFill>
                  <a:schemeClr val="dk2"/>
                </a:solidFill>
              </a:defRPr>
            </a:lvl3pPr>
            <a:lvl4pPr lvl="3" algn="ctr">
              <a:lnSpc>
                <a:spcPct val="100000"/>
              </a:lnSpc>
              <a:spcBef>
                <a:spcPts val="0"/>
              </a:spcBef>
              <a:spcAft>
                <a:spcPts val="0"/>
              </a:spcAft>
              <a:buClr>
                <a:schemeClr val="dk2"/>
              </a:buClr>
              <a:buSzPts val="12000"/>
              <a:buNone/>
              <a:defRPr sz="12000">
                <a:solidFill>
                  <a:schemeClr val="dk2"/>
                </a:solidFill>
              </a:defRPr>
            </a:lvl4pPr>
            <a:lvl5pPr lvl="4" algn="ctr">
              <a:lnSpc>
                <a:spcPct val="100000"/>
              </a:lnSpc>
              <a:spcBef>
                <a:spcPts val="0"/>
              </a:spcBef>
              <a:spcAft>
                <a:spcPts val="0"/>
              </a:spcAft>
              <a:buClr>
                <a:schemeClr val="dk2"/>
              </a:buClr>
              <a:buSzPts val="12000"/>
              <a:buNone/>
              <a:defRPr sz="12000">
                <a:solidFill>
                  <a:schemeClr val="dk2"/>
                </a:solidFill>
              </a:defRPr>
            </a:lvl5pPr>
            <a:lvl6pPr lvl="5" algn="ctr">
              <a:lnSpc>
                <a:spcPct val="100000"/>
              </a:lnSpc>
              <a:spcBef>
                <a:spcPts val="0"/>
              </a:spcBef>
              <a:spcAft>
                <a:spcPts val="0"/>
              </a:spcAft>
              <a:buClr>
                <a:schemeClr val="dk2"/>
              </a:buClr>
              <a:buSzPts val="12000"/>
              <a:buNone/>
              <a:defRPr sz="12000">
                <a:solidFill>
                  <a:schemeClr val="dk2"/>
                </a:solidFill>
              </a:defRPr>
            </a:lvl6pPr>
            <a:lvl7pPr lvl="6" algn="ctr">
              <a:lnSpc>
                <a:spcPct val="100000"/>
              </a:lnSpc>
              <a:spcBef>
                <a:spcPts val="0"/>
              </a:spcBef>
              <a:spcAft>
                <a:spcPts val="0"/>
              </a:spcAft>
              <a:buClr>
                <a:schemeClr val="dk2"/>
              </a:buClr>
              <a:buSzPts val="12000"/>
              <a:buNone/>
              <a:defRPr sz="12000">
                <a:solidFill>
                  <a:schemeClr val="dk2"/>
                </a:solidFill>
              </a:defRPr>
            </a:lvl7pPr>
            <a:lvl8pPr lvl="7" algn="ctr">
              <a:lnSpc>
                <a:spcPct val="100000"/>
              </a:lnSpc>
              <a:spcBef>
                <a:spcPts val="0"/>
              </a:spcBef>
              <a:spcAft>
                <a:spcPts val="0"/>
              </a:spcAft>
              <a:buClr>
                <a:schemeClr val="dk2"/>
              </a:buClr>
              <a:buSzPts val="12000"/>
              <a:buNone/>
              <a:defRPr sz="12000">
                <a:solidFill>
                  <a:schemeClr val="dk2"/>
                </a:solidFill>
              </a:defRPr>
            </a:lvl8pPr>
            <a:lvl9pPr lvl="8" algn="ctr">
              <a:lnSpc>
                <a:spcPct val="100000"/>
              </a:lnSpc>
              <a:spcBef>
                <a:spcPts val="0"/>
              </a:spcBef>
              <a:spcAft>
                <a:spcPts val="0"/>
              </a:spcAft>
              <a:buClr>
                <a:schemeClr val="dk2"/>
              </a:buClr>
              <a:buSzPts val="12000"/>
              <a:buNone/>
              <a:defRPr sz="12000">
                <a:solidFill>
                  <a:schemeClr val="dk2"/>
                </a:solidFill>
              </a:defRPr>
            </a:lvl9pPr>
          </a:lstStyle>
          <a:p>
            <a:r>
              <a:t>xx%</a:t>
            </a:r>
          </a:p>
        </p:txBody>
      </p:sp>
      <p:sp>
        <p:nvSpPr>
          <p:cNvPr id="59" name="Google Shape;59;p33"/>
          <p:cNvSpPr txBox="1"/>
          <p:nvPr>
            <p:ph idx="1" type="body"/>
          </p:nvPr>
        </p:nvSpPr>
        <p:spPr>
          <a:xfrm>
            <a:off x="475500" y="3304625"/>
            <a:ext cx="82221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0" name="Google Shape;60;p33"/>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34"/>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1pPr>
            <a:lvl2pPr lvl="1"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2pPr>
            <a:lvl3pPr lvl="2"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3pPr>
            <a:lvl4pPr lvl="3"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4pPr>
            <a:lvl5pPr lvl="4"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5pPr>
            <a:lvl6pPr lvl="5"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6pPr>
            <a:lvl7pPr lvl="6"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7pPr>
            <a:lvl8pPr lvl="7"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8pPr>
            <a:lvl9pPr lvl="8"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9pPr>
          </a:lstStyle>
          <a:p/>
        </p:txBody>
      </p:sp>
      <p:sp>
        <p:nvSpPr>
          <p:cNvPr id="7" name="Google Shape;7;p23"/>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lt2"/>
              </a:buClr>
              <a:buSzPts val="1800"/>
              <a:buFont typeface="Roboto"/>
              <a:buChar char="●"/>
              <a:defRPr b="0" i="0" sz="1800" u="none" cap="none" strike="noStrike">
                <a:solidFill>
                  <a:schemeClr val="lt2"/>
                </a:solidFill>
                <a:latin typeface="Roboto"/>
                <a:ea typeface="Roboto"/>
                <a:cs typeface="Roboto"/>
                <a:sym typeface="Roboto"/>
              </a:defRPr>
            </a:lvl1pPr>
            <a:lvl2pPr indent="-317500" lvl="1" marL="914400" marR="0" rtl="0" algn="l">
              <a:lnSpc>
                <a:spcPct val="115000"/>
              </a:lnSpc>
              <a:spcBef>
                <a:spcPts val="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2pPr>
            <a:lvl3pPr indent="-317500" lvl="2" marL="1371600" marR="0" rtl="0" algn="l">
              <a:lnSpc>
                <a:spcPct val="115000"/>
              </a:lnSpc>
              <a:spcBef>
                <a:spcPts val="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3pPr>
            <a:lvl4pPr indent="-317500" lvl="3" marL="1828800" marR="0" rtl="0" algn="l">
              <a:lnSpc>
                <a:spcPct val="115000"/>
              </a:lnSpc>
              <a:spcBef>
                <a:spcPts val="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4pPr>
            <a:lvl5pPr indent="-317500" lvl="4" marL="2286000" marR="0" rtl="0" algn="l">
              <a:lnSpc>
                <a:spcPct val="115000"/>
              </a:lnSpc>
              <a:spcBef>
                <a:spcPts val="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5pPr>
            <a:lvl6pPr indent="-317500" lvl="5" marL="2743200" marR="0" rtl="0" algn="l">
              <a:lnSpc>
                <a:spcPct val="115000"/>
              </a:lnSpc>
              <a:spcBef>
                <a:spcPts val="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6pPr>
            <a:lvl7pPr indent="-317500" lvl="6" marL="3200400" marR="0" rtl="0" algn="l">
              <a:lnSpc>
                <a:spcPct val="115000"/>
              </a:lnSpc>
              <a:spcBef>
                <a:spcPts val="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7pPr>
            <a:lvl8pPr indent="-317500" lvl="7" marL="3657600" marR="0" rtl="0" algn="l">
              <a:lnSpc>
                <a:spcPct val="115000"/>
              </a:lnSpc>
              <a:spcBef>
                <a:spcPts val="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8pPr>
            <a:lvl9pPr indent="-317500" lvl="8" marL="4114800" marR="0" rtl="0" algn="l">
              <a:lnSpc>
                <a:spcPct val="115000"/>
              </a:lnSpc>
              <a:spcBef>
                <a:spcPts val="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9pPr>
          </a:lstStyle>
          <a:p/>
        </p:txBody>
      </p:sp>
      <p:sp>
        <p:nvSpPr>
          <p:cNvPr id="8" name="Google Shape;8;p23"/>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
          <p:cNvSpPr txBox="1"/>
          <p:nvPr>
            <p:ph type="ctrTitle"/>
          </p:nvPr>
        </p:nvSpPr>
        <p:spPr>
          <a:xfrm>
            <a:off x="390525" y="2051823"/>
            <a:ext cx="8585100" cy="701051"/>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990"/>
              <a:buNone/>
            </a:pPr>
            <a:r>
              <a:rPr lang="en-GB" sz="3820"/>
              <a:t>Software  Engineering</a:t>
            </a:r>
            <a:endParaRPr sz="3820"/>
          </a:p>
        </p:txBody>
      </p:sp>
      <p:sp>
        <p:nvSpPr>
          <p:cNvPr id="68" name="Google Shape;68;p1"/>
          <p:cNvSpPr txBox="1"/>
          <p:nvPr>
            <p:ph idx="1" type="subTitle"/>
          </p:nvPr>
        </p:nvSpPr>
        <p:spPr>
          <a:xfrm>
            <a:off x="390525" y="2789114"/>
            <a:ext cx="8224800" cy="1358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GB"/>
              <a:t>Fast-National University of computer &amp; Emerging Sciences</a:t>
            </a:r>
            <a:br>
              <a:rPr lang="en-GB"/>
            </a:br>
            <a:r>
              <a:rPr lang="en-GB"/>
              <a:t>Fall 2025</a:t>
            </a:r>
            <a:endParaRPr/>
          </a:p>
          <a:p>
            <a:pPr indent="0" lvl="0" marL="0" rtl="0" algn="l">
              <a:lnSpc>
                <a:spcPct val="100000"/>
              </a:lnSpc>
              <a:spcBef>
                <a:spcPts val="0"/>
              </a:spcBef>
              <a:spcAft>
                <a:spcPts val="0"/>
              </a:spcAft>
              <a:buSzPts val="1800"/>
              <a:buNone/>
            </a:pPr>
            <a:r>
              <a:rPr lang="en-GB"/>
              <a:t>Miss Juhinah Batool /Sir Faraz </a:t>
            </a:r>
            <a:br>
              <a:rPr lang="en-GB"/>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2"/>
          <p:cNvSpPr txBox="1"/>
          <p:nvPr>
            <p:ph type="title"/>
          </p:nvPr>
        </p:nvSpPr>
        <p:spPr>
          <a:xfrm>
            <a:off x="100193" y="13037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990"/>
              <a:buNone/>
            </a:pPr>
            <a:r>
              <a:rPr lang="en-GB" sz="3820"/>
              <a:t>Today’s Content</a:t>
            </a:r>
            <a:endParaRPr sz="3820"/>
          </a:p>
        </p:txBody>
      </p:sp>
      <p:sp>
        <p:nvSpPr>
          <p:cNvPr id="74" name="Google Shape;74;p2"/>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a:t>Statement Coverage, Branch Coverage</a:t>
            </a:r>
            <a:endParaRPr/>
          </a:p>
          <a:p>
            <a:pPr indent="0" lvl="0" marL="0" rtl="0" algn="l">
              <a:lnSpc>
                <a:spcPct val="115000"/>
              </a:lnSpc>
              <a:spcBef>
                <a:spcPts val="1200"/>
              </a:spcBef>
              <a:spcAft>
                <a:spcPts val="0"/>
              </a:spcAft>
              <a:buSzPts val="1800"/>
              <a:buNone/>
            </a:pPr>
            <a:r>
              <a:rPr lang="en-GB"/>
              <a:t>Cyclomatic Complexity and Basis Path Coverage</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g3ac91b5e27a_0_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Statement Coverage</a:t>
            </a:r>
            <a:endParaRPr/>
          </a:p>
        </p:txBody>
      </p:sp>
      <p:sp>
        <p:nvSpPr>
          <p:cNvPr id="80" name="Google Shape;80;g3ac91b5e27a_0_0"/>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It is one type of white box testing technique that ensures that all the statements of the source code are executed at least once. It covers all the paths, lines, and statements of a source code. It is used to design test box cases where it will find out the total number of executed statements out of the total statements present in the code.</a:t>
            </a:r>
            <a:endParaRPr/>
          </a:p>
          <a:p>
            <a:pPr indent="0" lvl="0" marL="0" rtl="0" algn="l">
              <a:spcBef>
                <a:spcPts val="0"/>
              </a:spcBef>
              <a:spcAft>
                <a:spcPts val="0"/>
              </a:spcAft>
              <a:buNone/>
            </a:pPr>
            <a:r>
              <a:rPr b="1" lang="en-GB"/>
              <a:t>Formula</a:t>
            </a:r>
            <a:r>
              <a:rPr lang="en-GB"/>
              <a:t>:</a:t>
            </a:r>
            <a:endParaRPr/>
          </a:p>
          <a:p>
            <a:pPr indent="0" lvl="0" marL="0" rtl="0" algn="l">
              <a:spcBef>
                <a:spcPts val="0"/>
              </a:spcBef>
              <a:spcAft>
                <a:spcPts val="0"/>
              </a:spcAft>
              <a:buNone/>
            </a:pPr>
            <a:r>
              <a:rPr lang="en-GB"/>
              <a:t>Statement coverage = (Number of executed statements / Total number of statements in source code) * 100</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3"/>
          <p:cNvSpPr txBox="1"/>
          <p:nvPr>
            <p:ph idx="1" type="body"/>
          </p:nvPr>
        </p:nvSpPr>
        <p:spPr>
          <a:xfrm>
            <a:off x="57150" y="4696825"/>
            <a:ext cx="8382000" cy="446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200"/>
              <a:buNone/>
            </a:pPr>
            <a:r>
              <a:rPr lang="en-GB"/>
              <a:t>Activity: Achieve 100% statement Coverage with minimum test cases</a:t>
            </a:r>
            <a:endParaRPr/>
          </a:p>
        </p:txBody>
      </p:sp>
      <p:sp>
        <p:nvSpPr>
          <p:cNvPr id="86" name="Google Shape;86;p3"/>
          <p:cNvSpPr txBox="1"/>
          <p:nvPr>
            <p:ph idx="1" type="body"/>
          </p:nvPr>
        </p:nvSpPr>
        <p:spPr>
          <a:xfrm>
            <a:off x="224500" y="297025"/>
            <a:ext cx="8451300" cy="3756300"/>
          </a:xfrm>
          <a:prstGeom prst="rect">
            <a:avLst/>
          </a:prstGeom>
          <a:noFill/>
          <a:ln>
            <a:noFill/>
          </a:ln>
        </p:spPr>
        <p:txBody>
          <a:bodyPr anchorCtr="0" anchor="ctr" bIns="91425" lIns="91425" spcFirstLastPara="1" rIns="91425" wrap="square" tIns="91425">
            <a:normAutofit/>
          </a:bodyPr>
          <a:lstStyle/>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int addNDivide(int x, int y) {</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int a = 0</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if x &gt; y</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a=10 </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return ( (x+y) / a );</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Write minimum Test Case(s) to achieve 100% Statement Coverage</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Input 		x	y	z</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TC1		_	_	_</a:t>
            </a:r>
            <a:endParaRPr>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4"/>
          <p:cNvSpPr txBox="1"/>
          <p:nvPr>
            <p:ph idx="1" type="body"/>
          </p:nvPr>
        </p:nvSpPr>
        <p:spPr>
          <a:xfrm>
            <a:off x="57150" y="4696825"/>
            <a:ext cx="8382000" cy="446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200"/>
              <a:buNone/>
            </a:pPr>
            <a:r>
              <a:rPr lang="en-GB"/>
              <a:t>Activity: Achieve 100% statement Coverage with minimum test cases</a:t>
            </a:r>
            <a:endParaRPr/>
          </a:p>
        </p:txBody>
      </p:sp>
      <p:sp>
        <p:nvSpPr>
          <p:cNvPr id="92" name="Google Shape;92;p4"/>
          <p:cNvSpPr txBox="1"/>
          <p:nvPr>
            <p:ph idx="1" type="body"/>
          </p:nvPr>
        </p:nvSpPr>
        <p:spPr>
          <a:xfrm>
            <a:off x="224500" y="297025"/>
            <a:ext cx="8451300" cy="3756300"/>
          </a:xfrm>
          <a:prstGeom prst="rect">
            <a:avLst/>
          </a:prstGeom>
          <a:noFill/>
          <a:ln>
            <a:noFill/>
          </a:ln>
        </p:spPr>
        <p:txBody>
          <a:bodyPr anchorCtr="0" anchor="ctr" bIns="91425" lIns="91425" spcFirstLastPara="1" rIns="91425" wrap="square" tIns="91425">
            <a:normAutofit/>
          </a:bodyPr>
          <a:lstStyle/>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int addNDivide(int x, int y) {</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int a = 0</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if x &gt; y</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a=10 </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return ( (x+y) / a );</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Write minimum Test Case(s) to achieve 100% Statement Coverage</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		</a:t>
            </a:r>
            <a:r>
              <a:rPr b="1" lang="en-GB">
                <a:solidFill>
                  <a:schemeClr val="dk2"/>
                </a:solidFill>
              </a:rPr>
              <a:t>x	y	Output</a:t>
            </a:r>
            <a:r>
              <a:rPr lang="en-GB">
                <a:solidFill>
                  <a:schemeClr val="dk2"/>
                </a:solidFill>
              </a:rPr>
              <a:t>		</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TC1		26	17	4</a:t>
            </a:r>
            <a:endParaRPr>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5"/>
          <p:cNvSpPr txBox="1"/>
          <p:nvPr>
            <p:ph idx="1" type="body"/>
          </p:nvPr>
        </p:nvSpPr>
        <p:spPr>
          <a:xfrm>
            <a:off x="325850" y="3384575"/>
            <a:ext cx="8382000" cy="59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200"/>
              <a:buNone/>
            </a:pPr>
            <a:r>
              <a:rPr lang="en-GB">
                <a:solidFill>
                  <a:srgbClr val="FF0000"/>
                </a:solidFill>
              </a:rPr>
              <a:t>Without considering the requirements is there any issue in code? Which other test case could have found it?</a:t>
            </a:r>
            <a:endParaRPr>
              <a:solidFill>
                <a:srgbClr val="FF0000"/>
              </a:solidFill>
            </a:endParaRPr>
          </a:p>
        </p:txBody>
      </p:sp>
      <p:sp>
        <p:nvSpPr>
          <p:cNvPr id="98" name="Google Shape;98;p5"/>
          <p:cNvSpPr txBox="1"/>
          <p:nvPr>
            <p:ph idx="1" type="body"/>
          </p:nvPr>
        </p:nvSpPr>
        <p:spPr>
          <a:xfrm>
            <a:off x="169325" y="145375"/>
            <a:ext cx="8193900" cy="2840100"/>
          </a:xfrm>
          <a:prstGeom prst="rect">
            <a:avLst/>
          </a:prstGeom>
          <a:noFill/>
          <a:ln>
            <a:noFill/>
          </a:ln>
        </p:spPr>
        <p:txBody>
          <a:bodyPr anchorCtr="0" anchor="ctr" bIns="91425" lIns="91425" spcFirstLastPara="1" rIns="91425" wrap="square" tIns="91425">
            <a:normAutofit/>
          </a:bodyPr>
          <a:lstStyle/>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int addNDivide(int x, int y) {</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int a = 0</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if x &gt; y</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a=10 </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return ( (x+y) / a );</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Write minimum Test Case(s) to achieve 100% Statement Coverage</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		</a:t>
            </a:r>
            <a:r>
              <a:rPr b="1" lang="en-GB">
                <a:solidFill>
                  <a:schemeClr val="dk2"/>
                </a:solidFill>
              </a:rPr>
              <a:t>x	y	Output</a:t>
            </a:r>
            <a:r>
              <a:rPr lang="en-GB">
                <a:solidFill>
                  <a:schemeClr val="dk2"/>
                </a:solidFill>
              </a:rPr>
              <a:t>		</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TC1		26	17	4</a:t>
            </a:r>
            <a:endParaRPr>
              <a:solidFill>
                <a:schemeClr val="dk2"/>
              </a:solidFill>
            </a:endParaRPr>
          </a:p>
        </p:txBody>
      </p:sp>
      <p:sp>
        <p:nvSpPr>
          <p:cNvPr id="99" name="Google Shape;99;p5"/>
          <p:cNvSpPr txBox="1"/>
          <p:nvPr>
            <p:ph idx="1" type="body"/>
          </p:nvPr>
        </p:nvSpPr>
        <p:spPr>
          <a:xfrm>
            <a:off x="57150" y="4696825"/>
            <a:ext cx="8382000" cy="446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200"/>
              <a:buNone/>
            </a:pPr>
            <a:r>
              <a:rPr lang="en-GB"/>
              <a:t>Limitation of Statement Coverage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6"/>
          <p:cNvSpPr txBox="1"/>
          <p:nvPr>
            <p:ph idx="1" type="body"/>
          </p:nvPr>
        </p:nvSpPr>
        <p:spPr>
          <a:xfrm>
            <a:off x="325850" y="3384575"/>
            <a:ext cx="8382000" cy="12006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200"/>
              <a:buNone/>
            </a:pPr>
            <a:r>
              <a:rPr lang="en-GB">
                <a:solidFill>
                  <a:schemeClr val="dk2"/>
                </a:solidFill>
              </a:rPr>
              <a:t>Without considering the requirements is there any issue in code? Which other test case could have found it?</a:t>
            </a:r>
            <a:endParaRPr>
              <a:solidFill>
                <a:schemeClr val="dk2"/>
              </a:solidFill>
            </a:endParaRPr>
          </a:p>
          <a:p>
            <a:pPr indent="0" lvl="0" marL="0" rtl="0" algn="l">
              <a:lnSpc>
                <a:spcPct val="100000"/>
              </a:lnSpc>
              <a:spcBef>
                <a:spcPts val="0"/>
              </a:spcBef>
              <a:spcAft>
                <a:spcPts val="0"/>
              </a:spcAft>
              <a:buSzPts val="1200"/>
              <a:buNone/>
            </a:pPr>
            <a:r>
              <a:t/>
            </a:r>
            <a:endParaRPr>
              <a:solidFill>
                <a:srgbClr val="FF0000"/>
              </a:solidFill>
            </a:endParaRPr>
          </a:p>
          <a:p>
            <a:pPr indent="-304800" lvl="0" marL="457200" rtl="0" algn="l">
              <a:lnSpc>
                <a:spcPct val="100000"/>
              </a:lnSpc>
              <a:spcBef>
                <a:spcPts val="0"/>
              </a:spcBef>
              <a:spcAft>
                <a:spcPts val="0"/>
              </a:spcAft>
              <a:buClr>
                <a:srgbClr val="FF0000"/>
              </a:buClr>
              <a:buSzPts val="1200"/>
              <a:buChar char="-"/>
            </a:pPr>
            <a:r>
              <a:rPr lang="en-GB">
                <a:solidFill>
                  <a:srgbClr val="FF0000"/>
                </a:solidFill>
              </a:rPr>
              <a:t>If y &gt; x then it will result in division by 0 causing system to crash</a:t>
            </a:r>
            <a:endParaRPr>
              <a:solidFill>
                <a:srgbClr val="FF0000"/>
              </a:solidFill>
            </a:endParaRPr>
          </a:p>
          <a:p>
            <a:pPr indent="-304800" lvl="0" marL="457200" rtl="0" algn="l">
              <a:lnSpc>
                <a:spcPct val="100000"/>
              </a:lnSpc>
              <a:spcBef>
                <a:spcPts val="0"/>
              </a:spcBef>
              <a:spcAft>
                <a:spcPts val="0"/>
              </a:spcAft>
              <a:buClr>
                <a:srgbClr val="FF0000"/>
              </a:buClr>
              <a:buSzPts val="1200"/>
              <a:buChar char="-"/>
            </a:pPr>
            <a:r>
              <a:rPr lang="en-GB">
                <a:solidFill>
                  <a:srgbClr val="FF0000"/>
                </a:solidFill>
              </a:rPr>
              <a:t>If we tested x = 16 and y = 32 then we would have found this issue</a:t>
            </a:r>
            <a:endParaRPr>
              <a:solidFill>
                <a:srgbClr val="FF0000"/>
              </a:solidFill>
            </a:endParaRPr>
          </a:p>
        </p:txBody>
      </p:sp>
      <p:sp>
        <p:nvSpPr>
          <p:cNvPr id="105" name="Google Shape;105;p6"/>
          <p:cNvSpPr txBox="1"/>
          <p:nvPr>
            <p:ph idx="1" type="body"/>
          </p:nvPr>
        </p:nvSpPr>
        <p:spPr>
          <a:xfrm>
            <a:off x="169325" y="145375"/>
            <a:ext cx="4705200" cy="2840100"/>
          </a:xfrm>
          <a:prstGeom prst="rect">
            <a:avLst/>
          </a:prstGeom>
          <a:noFill/>
          <a:ln>
            <a:noFill/>
          </a:ln>
        </p:spPr>
        <p:txBody>
          <a:bodyPr anchorCtr="0" anchor="ctr" bIns="91425" lIns="91425" spcFirstLastPara="1" rIns="91425" wrap="square" tIns="91425">
            <a:normAutofit lnSpcReduction="10000"/>
          </a:bodyPr>
          <a:lstStyle/>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int addNDivide(int x, int y) {</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int a = 0</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if x &gt; y</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a=10 </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return ( (x+y) / a );</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Write minimum Test Case(s) to achieve 100% Statement Coverage</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		</a:t>
            </a:r>
            <a:r>
              <a:rPr b="1" lang="en-GB">
                <a:solidFill>
                  <a:schemeClr val="dk2"/>
                </a:solidFill>
              </a:rPr>
              <a:t>x	y	Output</a:t>
            </a:r>
            <a:r>
              <a:rPr lang="en-GB">
                <a:solidFill>
                  <a:schemeClr val="dk2"/>
                </a:solidFill>
              </a:rPr>
              <a:t>		</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TC1		26	17	4</a:t>
            </a:r>
            <a:endParaRPr>
              <a:solidFill>
                <a:schemeClr val="dk2"/>
              </a:solidFill>
            </a:endParaRPr>
          </a:p>
        </p:txBody>
      </p:sp>
      <p:sp>
        <p:nvSpPr>
          <p:cNvPr id="106" name="Google Shape;106;p6"/>
          <p:cNvSpPr txBox="1"/>
          <p:nvPr>
            <p:ph idx="1" type="body"/>
          </p:nvPr>
        </p:nvSpPr>
        <p:spPr>
          <a:xfrm>
            <a:off x="57150" y="4696825"/>
            <a:ext cx="8382000" cy="446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200"/>
              <a:buNone/>
            </a:pPr>
            <a:r>
              <a:rPr lang="en-GB"/>
              <a:t>Limitation of Statement Coverage</a:t>
            </a:r>
            <a:endParaRPr/>
          </a:p>
        </p:txBody>
      </p:sp>
      <p:grpSp>
        <p:nvGrpSpPr>
          <p:cNvPr id="107" name="Google Shape;107;p6"/>
          <p:cNvGrpSpPr/>
          <p:nvPr/>
        </p:nvGrpSpPr>
        <p:grpSpPr>
          <a:xfrm>
            <a:off x="4378175" y="344750"/>
            <a:ext cx="2951175" cy="2371050"/>
            <a:chOff x="4378175" y="344750"/>
            <a:chExt cx="2951175" cy="2371050"/>
          </a:xfrm>
        </p:grpSpPr>
        <p:sp>
          <p:nvSpPr>
            <p:cNvPr id="108" name="Google Shape;108;p6"/>
            <p:cNvSpPr/>
            <p:nvPr/>
          </p:nvSpPr>
          <p:spPr>
            <a:xfrm>
              <a:off x="6267350" y="344750"/>
              <a:ext cx="531000" cy="517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Roboto"/>
                  <a:ea typeface="Roboto"/>
                  <a:cs typeface="Roboto"/>
                  <a:sym typeface="Roboto"/>
                </a:rPr>
                <a:t>1,2</a:t>
              </a:r>
              <a:endParaRPr b="0" i="0" sz="1100" u="none" cap="none" strike="noStrike">
                <a:solidFill>
                  <a:srgbClr val="000000"/>
                </a:solidFill>
                <a:latin typeface="Roboto"/>
                <a:ea typeface="Roboto"/>
                <a:cs typeface="Roboto"/>
                <a:sym typeface="Roboto"/>
              </a:endParaRPr>
            </a:p>
          </p:txBody>
        </p:sp>
        <p:sp>
          <p:nvSpPr>
            <p:cNvPr id="109" name="Google Shape;109;p6"/>
            <p:cNvSpPr/>
            <p:nvPr/>
          </p:nvSpPr>
          <p:spPr>
            <a:xfrm>
              <a:off x="6267350" y="1069425"/>
              <a:ext cx="531000" cy="517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Roboto"/>
                  <a:ea typeface="Roboto"/>
                  <a:cs typeface="Roboto"/>
                  <a:sym typeface="Roboto"/>
                </a:rPr>
                <a:t>3</a:t>
              </a:r>
              <a:endParaRPr b="0" i="0" sz="1100" u="none" cap="none" strike="noStrike">
                <a:solidFill>
                  <a:srgbClr val="000000"/>
                </a:solidFill>
                <a:latin typeface="Roboto"/>
                <a:ea typeface="Roboto"/>
                <a:cs typeface="Roboto"/>
                <a:sym typeface="Roboto"/>
              </a:endParaRPr>
            </a:p>
          </p:txBody>
        </p:sp>
        <p:sp>
          <p:nvSpPr>
            <p:cNvPr id="110" name="Google Shape;110;p6"/>
            <p:cNvSpPr/>
            <p:nvPr/>
          </p:nvSpPr>
          <p:spPr>
            <a:xfrm>
              <a:off x="6798350" y="1606063"/>
              <a:ext cx="531000" cy="517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Roboto"/>
                  <a:ea typeface="Roboto"/>
                  <a:cs typeface="Roboto"/>
                  <a:sym typeface="Roboto"/>
                </a:rPr>
                <a:t>4</a:t>
              </a:r>
              <a:endParaRPr b="0" i="0" sz="1100" u="none" cap="none" strike="noStrike">
                <a:solidFill>
                  <a:srgbClr val="000000"/>
                </a:solidFill>
                <a:latin typeface="Roboto"/>
                <a:ea typeface="Roboto"/>
                <a:cs typeface="Roboto"/>
                <a:sym typeface="Roboto"/>
              </a:endParaRPr>
            </a:p>
          </p:txBody>
        </p:sp>
        <p:sp>
          <p:nvSpPr>
            <p:cNvPr id="111" name="Google Shape;111;p6"/>
            <p:cNvSpPr/>
            <p:nvPr/>
          </p:nvSpPr>
          <p:spPr>
            <a:xfrm>
              <a:off x="6302450" y="2198600"/>
              <a:ext cx="531000" cy="517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Roboto"/>
                  <a:ea typeface="Roboto"/>
                  <a:cs typeface="Roboto"/>
                  <a:sym typeface="Roboto"/>
                </a:rPr>
                <a:t>5,6</a:t>
              </a:r>
              <a:endParaRPr b="0" i="0" sz="1100" u="none" cap="none" strike="noStrike">
                <a:solidFill>
                  <a:srgbClr val="000000"/>
                </a:solidFill>
                <a:latin typeface="Roboto"/>
                <a:ea typeface="Roboto"/>
                <a:cs typeface="Roboto"/>
                <a:sym typeface="Roboto"/>
              </a:endParaRPr>
            </a:p>
          </p:txBody>
        </p:sp>
        <p:cxnSp>
          <p:nvCxnSpPr>
            <p:cNvPr id="112" name="Google Shape;112;p6"/>
            <p:cNvCxnSpPr>
              <a:stCxn id="108" idx="4"/>
              <a:endCxn id="109" idx="0"/>
            </p:cNvCxnSpPr>
            <p:nvPr/>
          </p:nvCxnSpPr>
          <p:spPr>
            <a:xfrm>
              <a:off x="6532850" y="861950"/>
              <a:ext cx="0" cy="207600"/>
            </a:xfrm>
            <a:prstGeom prst="straightConnector1">
              <a:avLst/>
            </a:prstGeom>
            <a:noFill/>
            <a:ln cap="flat" cmpd="sng" w="9525">
              <a:solidFill>
                <a:schemeClr val="dk2"/>
              </a:solidFill>
              <a:prstDash val="solid"/>
              <a:round/>
              <a:headEnd len="sm" w="sm" type="none"/>
              <a:tailEnd len="med" w="med" type="triangle"/>
            </a:ln>
          </p:spPr>
        </p:cxnSp>
        <p:cxnSp>
          <p:nvCxnSpPr>
            <p:cNvPr id="113" name="Google Shape;113;p6"/>
            <p:cNvCxnSpPr>
              <a:stCxn id="109" idx="5"/>
              <a:endCxn id="110" idx="1"/>
            </p:cNvCxnSpPr>
            <p:nvPr/>
          </p:nvCxnSpPr>
          <p:spPr>
            <a:xfrm>
              <a:off x="6720587" y="1510883"/>
              <a:ext cx="155400" cy="171000"/>
            </a:xfrm>
            <a:prstGeom prst="straightConnector1">
              <a:avLst/>
            </a:prstGeom>
            <a:noFill/>
            <a:ln cap="flat" cmpd="sng" w="9525">
              <a:solidFill>
                <a:schemeClr val="dk2"/>
              </a:solidFill>
              <a:prstDash val="solid"/>
              <a:round/>
              <a:headEnd len="sm" w="sm" type="none"/>
              <a:tailEnd len="med" w="med" type="triangle"/>
            </a:ln>
          </p:spPr>
        </p:cxnSp>
        <p:cxnSp>
          <p:nvCxnSpPr>
            <p:cNvPr id="114" name="Google Shape;114;p6"/>
            <p:cNvCxnSpPr>
              <a:stCxn id="110" idx="3"/>
              <a:endCxn id="111" idx="7"/>
            </p:cNvCxnSpPr>
            <p:nvPr/>
          </p:nvCxnSpPr>
          <p:spPr>
            <a:xfrm flipH="1">
              <a:off x="6755813" y="2047521"/>
              <a:ext cx="120300" cy="226800"/>
            </a:xfrm>
            <a:prstGeom prst="straightConnector1">
              <a:avLst/>
            </a:prstGeom>
            <a:noFill/>
            <a:ln cap="flat" cmpd="sng" w="9525">
              <a:solidFill>
                <a:schemeClr val="dk2"/>
              </a:solidFill>
              <a:prstDash val="solid"/>
              <a:round/>
              <a:headEnd len="sm" w="sm" type="none"/>
              <a:tailEnd len="med" w="med" type="triangle"/>
            </a:ln>
          </p:spPr>
        </p:cxnSp>
        <p:cxnSp>
          <p:nvCxnSpPr>
            <p:cNvPr id="115" name="Google Shape;115;p6"/>
            <p:cNvCxnSpPr>
              <a:stCxn id="109" idx="4"/>
              <a:endCxn id="111" idx="0"/>
            </p:cNvCxnSpPr>
            <p:nvPr/>
          </p:nvCxnSpPr>
          <p:spPr>
            <a:xfrm>
              <a:off x="6532850" y="1586625"/>
              <a:ext cx="35100" cy="612000"/>
            </a:xfrm>
            <a:prstGeom prst="straightConnector1">
              <a:avLst/>
            </a:prstGeom>
            <a:noFill/>
            <a:ln cap="flat" cmpd="sng" w="9525">
              <a:solidFill>
                <a:schemeClr val="dk2"/>
              </a:solidFill>
              <a:prstDash val="solid"/>
              <a:round/>
              <a:headEnd len="sm" w="sm" type="none"/>
              <a:tailEnd len="med" w="med" type="triangle"/>
            </a:ln>
          </p:spPr>
        </p:cxnSp>
        <p:sp>
          <p:nvSpPr>
            <p:cNvPr id="116" name="Google Shape;116;p6"/>
            <p:cNvSpPr txBox="1"/>
            <p:nvPr/>
          </p:nvSpPr>
          <p:spPr>
            <a:xfrm>
              <a:off x="4378175" y="689475"/>
              <a:ext cx="1344600" cy="64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CC0000"/>
                  </a:solidFill>
                  <a:latin typeface="Roboto"/>
                  <a:ea typeface="Roboto"/>
                  <a:cs typeface="Roboto"/>
                  <a:sym typeface="Roboto"/>
                </a:rPr>
                <a:t>No New Statement Covered but should be tested</a:t>
              </a:r>
              <a:endParaRPr b="0" i="0" sz="1000" u="none" cap="none" strike="noStrike">
                <a:solidFill>
                  <a:srgbClr val="CC0000"/>
                </a:solidFill>
                <a:latin typeface="Roboto"/>
                <a:ea typeface="Roboto"/>
                <a:cs typeface="Roboto"/>
                <a:sym typeface="Roboto"/>
              </a:endParaRPr>
            </a:p>
          </p:txBody>
        </p:sp>
        <p:cxnSp>
          <p:nvCxnSpPr>
            <p:cNvPr id="117" name="Google Shape;117;p6"/>
            <p:cNvCxnSpPr/>
            <p:nvPr/>
          </p:nvCxnSpPr>
          <p:spPr>
            <a:xfrm>
              <a:off x="5212450" y="1393075"/>
              <a:ext cx="786000" cy="344700"/>
            </a:xfrm>
            <a:prstGeom prst="straightConnector1">
              <a:avLst/>
            </a:prstGeom>
            <a:noFill/>
            <a:ln cap="flat" cmpd="sng" w="9525">
              <a:solidFill>
                <a:schemeClr val="dk2"/>
              </a:solidFill>
              <a:prstDash val="solid"/>
              <a:round/>
              <a:headEnd len="sm" w="sm"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7"/>
          <p:cNvSpPr txBox="1"/>
          <p:nvPr>
            <p:ph idx="4294967295" type="body"/>
          </p:nvPr>
        </p:nvSpPr>
        <p:spPr>
          <a:xfrm>
            <a:off x="354875" y="922050"/>
            <a:ext cx="7737300" cy="38217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15000"/>
              </a:lnSpc>
              <a:spcBef>
                <a:spcPts val="0"/>
              </a:spcBef>
              <a:spcAft>
                <a:spcPts val="0"/>
              </a:spcAft>
              <a:buSzPts val="1800"/>
              <a:buChar char="-"/>
            </a:pPr>
            <a:r>
              <a:rPr lang="en-GB"/>
              <a:t>Branch coverage in unit testing is a metric that measures the percentage of branches (decision points) in the source code that have been executed during the testing process. </a:t>
            </a:r>
            <a:endParaRPr/>
          </a:p>
          <a:p>
            <a:pPr indent="-342900" lvl="0" marL="457200" rtl="0" algn="l">
              <a:lnSpc>
                <a:spcPct val="115000"/>
              </a:lnSpc>
              <a:spcBef>
                <a:spcPts val="0"/>
              </a:spcBef>
              <a:spcAft>
                <a:spcPts val="0"/>
              </a:spcAft>
              <a:buSzPts val="1800"/>
              <a:buChar char="-"/>
            </a:pPr>
            <a:r>
              <a:rPr lang="en-GB"/>
              <a:t>It indicates how well the test cases navigate through different possible outcomes of conditional statements, helping evaluate the thoroughness of testing.</a:t>
            </a:r>
            <a:endParaRPr/>
          </a:p>
          <a:p>
            <a:pPr indent="-342900" lvl="0" marL="457200" rtl="0" algn="l">
              <a:lnSpc>
                <a:spcPct val="115000"/>
              </a:lnSpc>
              <a:spcBef>
                <a:spcPts val="0"/>
              </a:spcBef>
              <a:spcAft>
                <a:spcPts val="0"/>
              </a:spcAft>
              <a:buSzPts val="1800"/>
              <a:buChar char="-"/>
            </a:pPr>
            <a:r>
              <a:rPr lang="en-GB"/>
              <a:t>A high branch coverage means that most decision paths in the code have been tested, increasing the likelihood of detecting potential defects.</a:t>
            </a:r>
            <a:endParaRPr/>
          </a:p>
          <a:p>
            <a:pPr indent="0" lvl="0" marL="0" rtl="0" algn="l">
              <a:spcBef>
                <a:spcPts val="1800"/>
              </a:spcBef>
              <a:spcAft>
                <a:spcPts val="0"/>
              </a:spcAft>
              <a:buNone/>
            </a:pPr>
            <a:r>
              <a:rPr b="1" lang="en-GB" sz="1500">
                <a:solidFill>
                  <a:srgbClr val="273239"/>
                </a:solidFill>
                <a:highlight>
                  <a:srgbClr val="FFFFFF"/>
                </a:highlight>
                <a:latin typeface="Nunito"/>
                <a:ea typeface="Nunito"/>
                <a:cs typeface="Nunito"/>
                <a:sym typeface="Nunito"/>
              </a:rPr>
              <a:t>Formula for Branch Coverage:</a:t>
            </a:r>
            <a:endParaRPr b="1" sz="1500">
              <a:solidFill>
                <a:srgbClr val="273239"/>
              </a:solidFill>
              <a:highlight>
                <a:srgbClr val="FFFFFF"/>
              </a:highlight>
              <a:latin typeface="Nunito"/>
              <a:ea typeface="Nunito"/>
              <a:cs typeface="Nunito"/>
              <a:sym typeface="Nunito"/>
            </a:endParaRPr>
          </a:p>
          <a:p>
            <a:pPr indent="-342900" lvl="0" marL="457200" marR="228600" rtl="0" algn="l">
              <a:lnSpc>
                <a:spcPct val="120000"/>
              </a:lnSpc>
              <a:spcBef>
                <a:spcPts val="1800"/>
              </a:spcBef>
              <a:spcAft>
                <a:spcPts val="0"/>
              </a:spcAft>
              <a:buSzPts val="1800"/>
              <a:buChar char="-"/>
            </a:pPr>
            <a:r>
              <a:rPr i="1" lang="en-GB" sz="1350">
                <a:solidFill>
                  <a:srgbClr val="273239"/>
                </a:solidFill>
                <a:latin typeface="Nunito"/>
                <a:ea typeface="Nunito"/>
                <a:cs typeface="Nunito"/>
                <a:sym typeface="Nunito"/>
              </a:rPr>
              <a:t>Branch Coverage = ((Number of Executed Branches) ÷ (Total Number of Branches)) ✕ 100%</a:t>
            </a:r>
            <a:endParaRPr/>
          </a:p>
        </p:txBody>
      </p:sp>
      <p:sp>
        <p:nvSpPr>
          <p:cNvPr id="123" name="Google Shape;123;p7"/>
          <p:cNvSpPr txBox="1"/>
          <p:nvPr>
            <p:ph type="title"/>
          </p:nvPr>
        </p:nvSpPr>
        <p:spPr>
          <a:xfrm>
            <a:off x="98250" y="16350"/>
            <a:ext cx="8826600" cy="602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800"/>
              <a:buNone/>
            </a:pPr>
            <a:r>
              <a:rPr lang="en-GB"/>
              <a:t>Branch / Decision Coverage</a:t>
            </a:r>
            <a:endParaRPr sz="1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8"/>
          <p:cNvSpPr txBox="1"/>
          <p:nvPr>
            <p:ph type="title"/>
          </p:nvPr>
        </p:nvSpPr>
        <p:spPr>
          <a:xfrm>
            <a:off x="98250" y="16350"/>
            <a:ext cx="8826600" cy="602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800"/>
              <a:buNone/>
            </a:pPr>
            <a:r>
              <a:rPr lang="en-GB"/>
              <a:t>Exercise: Draw Control Flow and Write Unit Tests to achieve 100% Branch Coverage</a:t>
            </a:r>
            <a:endParaRPr/>
          </a:p>
        </p:txBody>
      </p:sp>
      <p:sp>
        <p:nvSpPr>
          <p:cNvPr id="129" name="Google Shape;129;p8"/>
          <p:cNvSpPr txBox="1"/>
          <p:nvPr>
            <p:ph idx="4294967295" type="body"/>
          </p:nvPr>
        </p:nvSpPr>
        <p:spPr>
          <a:xfrm>
            <a:off x="181550" y="890875"/>
            <a:ext cx="8451300" cy="3756300"/>
          </a:xfrm>
          <a:prstGeom prst="rect">
            <a:avLst/>
          </a:prstGeom>
          <a:noFill/>
          <a:ln>
            <a:noFill/>
          </a:ln>
        </p:spPr>
        <p:txBody>
          <a:bodyPr anchorCtr="0" anchor="t" bIns="91425" lIns="91425" spcFirstLastPara="1" rIns="91425" wrap="square" tIns="91425">
            <a:normAutofit fontScale="70000" lnSpcReduction="20000"/>
          </a:bodyPr>
          <a:lstStyle/>
          <a:p>
            <a:pPr indent="-308610" lvl="0" marL="457200" rtl="0" algn="l">
              <a:lnSpc>
                <a:spcPct val="115000"/>
              </a:lnSpc>
              <a:spcBef>
                <a:spcPts val="0"/>
              </a:spcBef>
              <a:spcAft>
                <a:spcPts val="0"/>
              </a:spcAft>
              <a:buClr>
                <a:schemeClr val="dk2"/>
              </a:buClr>
              <a:buSzPct val="100000"/>
              <a:buAutoNum type="arabicPeriod"/>
            </a:pPr>
            <a:r>
              <a:rPr lang="en-GB">
                <a:solidFill>
                  <a:schemeClr val="dk2"/>
                </a:solidFill>
              </a:rPr>
              <a:t>//function to calculate g.c.d</a:t>
            </a:r>
            <a:endParaRPr>
              <a:solidFill>
                <a:schemeClr val="dk2"/>
              </a:solidFill>
            </a:endParaRPr>
          </a:p>
          <a:p>
            <a:pPr indent="-308610" lvl="0" marL="457200" rtl="0" algn="l">
              <a:lnSpc>
                <a:spcPct val="115000"/>
              </a:lnSpc>
              <a:spcBef>
                <a:spcPts val="0"/>
              </a:spcBef>
              <a:spcAft>
                <a:spcPts val="0"/>
              </a:spcAft>
              <a:buClr>
                <a:schemeClr val="dk2"/>
              </a:buClr>
              <a:buSzPct val="100000"/>
              <a:buAutoNum type="arabicPeriod"/>
            </a:pPr>
            <a:r>
              <a:rPr lang="en-GB">
                <a:solidFill>
                  <a:schemeClr val="dk2"/>
                </a:solidFill>
              </a:rPr>
              <a:t>void gcd(int a,int b)</a:t>
            </a:r>
            <a:endParaRPr>
              <a:solidFill>
                <a:schemeClr val="dk2"/>
              </a:solidFill>
            </a:endParaRPr>
          </a:p>
          <a:p>
            <a:pPr indent="-308610" lvl="0" marL="457200" rtl="0" algn="l">
              <a:lnSpc>
                <a:spcPct val="115000"/>
              </a:lnSpc>
              <a:spcBef>
                <a:spcPts val="0"/>
              </a:spcBef>
              <a:spcAft>
                <a:spcPts val="0"/>
              </a:spcAft>
              <a:buClr>
                <a:schemeClr val="dk2"/>
              </a:buClr>
              <a:buSzPct val="100000"/>
              <a:buAutoNum type="arabicPeriod"/>
            </a:pPr>
            <a:r>
              <a:rPr lang="en-GB">
                <a:solidFill>
                  <a:schemeClr val="dk2"/>
                </a:solidFill>
              </a:rPr>
              <a:t>{</a:t>
            </a:r>
            <a:endParaRPr>
              <a:solidFill>
                <a:schemeClr val="dk2"/>
              </a:solidFill>
            </a:endParaRPr>
          </a:p>
          <a:p>
            <a:pPr indent="-308610" lvl="0" marL="457200" rtl="0" algn="l">
              <a:lnSpc>
                <a:spcPct val="115000"/>
              </a:lnSpc>
              <a:spcBef>
                <a:spcPts val="0"/>
              </a:spcBef>
              <a:spcAft>
                <a:spcPts val="0"/>
              </a:spcAft>
              <a:buClr>
                <a:schemeClr val="dk2"/>
              </a:buClr>
              <a:buSzPct val="100000"/>
              <a:buAutoNum type="arabicPeriod"/>
            </a:pPr>
            <a:r>
              <a:rPr lang="en-GB">
                <a:solidFill>
                  <a:schemeClr val="dk2"/>
                </a:solidFill>
              </a:rPr>
              <a:t>    int m,n;</a:t>
            </a:r>
            <a:endParaRPr>
              <a:solidFill>
                <a:schemeClr val="dk2"/>
              </a:solidFill>
            </a:endParaRPr>
          </a:p>
          <a:p>
            <a:pPr indent="-228600" lvl="0" marL="457200" rtl="0" algn="l">
              <a:lnSpc>
                <a:spcPct val="115000"/>
              </a:lnSpc>
              <a:spcBef>
                <a:spcPts val="0"/>
              </a:spcBef>
              <a:spcAft>
                <a:spcPts val="0"/>
              </a:spcAft>
              <a:buClr>
                <a:schemeClr val="dk2"/>
              </a:buClr>
              <a:buSzPct val="100000"/>
              <a:buNone/>
            </a:pPr>
            <a:r>
              <a:t/>
            </a:r>
            <a:endParaRPr>
              <a:solidFill>
                <a:schemeClr val="dk2"/>
              </a:solidFill>
            </a:endParaRPr>
          </a:p>
          <a:p>
            <a:pPr indent="-308610" lvl="0" marL="457200" rtl="0" algn="l">
              <a:lnSpc>
                <a:spcPct val="115000"/>
              </a:lnSpc>
              <a:spcBef>
                <a:spcPts val="0"/>
              </a:spcBef>
              <a:spcAft>
                <a:spcPts val="0"/>
              </a:spcAft>
              <a:buClr>
                <a:schemeClr val="dk2"/>
              </a:buClr>
              <a:buSzPct val="100000"/>
              <a:buAutoNum type="arabicPeriod"/>
            </a:pPr>
            <a:r>
              <a:rPr lang="en-GB">
                <a:solidFill>
                  <a:schemeClr val="dk2"/>
                </a:solidFill>
              </a:rPr>
              <a:t>    m=a;</a:t>
            </a:r>
            <a:endParaRPr>
              <a:solidFill>
                <a:schemeClr val="dk2"/>
              </a:solidFill>
            </a:endParaRPr>
          </a:p>
          <a:p>
            <a:pPr indent="-308610" lvl="0" marL="457200" rtl="0" algn="l">
              <a:lnSpc>
                <a:spcPct val="115000"/>
              </a:lnSpc>
              <a:spcBef>
                <a:spcPts val="0"/>
              </a:spcBef>
              <a:spcAft>
                <a:spcPts val="0"/>
              </a:spcAft>
              <a:buClr>
                <a:schemeClr val="dk2"/>
              </a:buClr>
              <a:buSzPct val="100000"/>
              <a:buAutoNum type="arabicPeriod"/>
            </a:pPr>
            <a:r>
              <a:rPr lang="en-GB">
                <a:solidFill>
                  <a:schemeClr val="dk2"/>
                </a:solidFill>
              </a:rPr>
              <a:t>    n=b;</a:t>
            </a:r>
            <a:endParaRPr>
              <a:solidFill>
                <a:schemeClr val="dk2"/>
              </a:solidFill>
            </a:endParaRPr>
          </a:p>
          <a:p>
            <a:pPr indent="-228600" lvl="0" marL="457200" rtl="0" algn="l">
              <a:lnSpc>
                <a:spcPct val="115000"/>
              </a:lnSpc>
              <a:spcBef>
                <a:spcPts val="0"/>
              </a:spcBef>
              <a:spcAft>
                <a:spcPts val="0"/>
              </a:spcAft>
              <a:buClr>
                <a:schemeClr val="dk2"/>
              </a:buClr>
              <a:buSzPct val="100000"/>
              <a:buNone/>
            </a:pPr>
            <a:r>
              <a:t/>
            </a:r>
            <a:endParaRPr>
              <a:solidFill>
                <a:schemeClr val="dk2"/>
              </a:solidFill>
            </a:endParaRPr>
          </a:p>
          <a:p>
            <a:pPr indent="-308610" lvl="0" marL="457200" rtl="0" algn="l">
              <a:lnSpc>
                <a:spcPct val="115000"/>
              </a:lnSpc>
              <a:spcBef>
                <a:spcPts val="0"/>
              </a:spcBef>
              <a:spcAft>
                <a:spcPts val="0"/>
              </a:spcAft>
              <a:buClr>
                <a:schemeClr val="dk2"/>
              </a:buClr>
              <a:buSzPct val="100000"/>
              <a:buAutoNum type="arabicPeriod"/>
            </a:pPr>
            <a:r>
              <a:rPr lang="en-GB">
                <a:solidFill>
                  <a:schemeClr val="dk2"/>
                </a:solidFill>
              </a:rPr>
              <a:t>    while(m!=n)</a:t>
            </a:r>
            <a:endParaRPr>
              <a:solidFill>
                <a:schemeClr val="dk2"/>
              </a:solidFill>
            </a:endParaRPr>
          </a:p>
          <a:p>
            <a:pPr indent="-308610" lvl="0" marL="457200" rtl="0" algn="l">
              <a:lnSpc>
                <a:spcPct val="115000"/>
              </a:lnSpc>
              <a:spcBef>
                <a:spcPts val="0"/>
              </a:spcBef>
              <a:spcAft>
                <a:spcPts val="0"/>
              </a:spcAft>
              <a:buClr>
                <a:schemeClr val="dk2"/>
              </a:buClr>
              <a:buSzPct val="100000"/>
              <a:buAutoNum type="arabicPeriod"/>
            </a:pPr>
            <a:r>
              <a:rPr lang="en-GB">
                <a:solidFill>
                  <a:schemeClr val="dk2"/>
                </a:solidFill>
              </a:rPr>
              <a:t>    {</a:t>
            </a:r>
            <a:endParaRPr>
              <a:solidFill>
                <a:schemeClr val="dk2"/>
              </a:solidFill>
            </a:endParaRPr>
          </a:p>
          <a:p>
            <a:pPr indent="-308610" lvl="0" marL="457200" rtl="0" algn="l">
              <a:lnSpc>
                <a:spcPct val="115000"/>
              </a:lnSpc>
              <a:spcBef>
                <a:spcPts val="0"/>
              </a:spcBef>
              <a:spcAft>
                <a:spcPts val="0"/>
              </a:spcAft>
              <a:buClr>
                <a:schemeClr val="dk2"/>
              </a:buClr>
              <a:buSzPct val="100000"/>
              <a:buAutoNum type="arabicPeriod"/>
            </a:pPr>
            <a:r>
              <a:rPr lang="en-GB">
                <a:solidFill>
                  <a:schemeClr val="dk2"/>
                </a:solidFill>
              </a:rPr>
              <a:t>        if(m&gt;n)</a:t>
            </a:r>
            <a:endParaRPr>
              <a:solidFill>
                <a:schemeClr val="dk2"/>
              </a:solidFill>
            </a:endParaRPr>
          </a:p>
          <a:p>
            <a:pPr indent="-308610" lvl="0" marL="457200" rtl="0" algn="l">
              <a:lnSpc>
                <a:spcPct val="115000"/>
              </a:lnSpc>
              <a:spcBef>
                <a:spcPts val="0"/>
              </a:spcBef>
              <a:spcAft>
                <a:spcPts val="0"/>
              </a:spcAft>
              <a:buClr>
                <a:schemeClr val="dk2"/>
              </a:buClr>
              <a:buSzPct val="100000"/>
              <a:buAutoNum type="arabicPeriod"/>
            </a:pPr>
            <a:r>
              <a:rPr lang="en-GB">
                <a:solidFill>
                  <a:schemeClr val="dk2"/>
                </a:solidFill>
              </a:rPr>
              <a:t>            m=m-n;</a:t>
            </a:r>
            <a:endParaRPr>
              <a:solidFill>
                <a:schemeClr val="dk2"/>
              </a:solidFill>
            </a:endParaRPr>
          </a:p>
          <a:p>
            <a:pPr indent="-308610" lvl="0" marL="457200" rtl="0" algn="l">
              <a:lnSpc>
                <a:spcPct val="115000"/>
              </a:lnSpc>
              <a:spcBef>
                <a:spcPts val="0"/>
              </a:spcBef>
              <a:spcAft>
                <a:spcPts val="0"/>
              </a:spcAft>
              <a:buClr>
                <a:schemeClr val="dk2"/>
              </a:buClr>
              <a:buSzPct val="100000"/>
              <a:buAutoNum type="arabicPeriod"/>
            </a:pPr>
            <a:r>
              <a:rPr lang="en-GB">
                <a:solidFill>
                  <a:schemeClr val="dk2"/>
                </a:solidFill>
              </a:rPr>
              <a:t>        else</a:t>
            </a:r>
            <a:endParaRPr>
              <a:solidFill>
                <a:schemeClr val="dk2"/>
              </a:solidFill>
            </a:endParaRPr>
          </a:p>
          <a:p>
            <a:pPr indent="-308610" lvl="0" marL="457200" rtl="0" algn="l">
              <a:lnSpc>
                <a:spcPct val="115000"/>
              </a:lnSpc>
              <a:spcBef>
                <a:spcPts val="0"/>
              </a:spcBef>
              <a:spcAft>
                <a:spcPts val="0"/>
              </a:spcAft>
              <a:buClr>
                <a:schemeClr val="dk2"/>
              </a:buClr>
              <a:buSzPct val="100000"/>
              <a:buAutoNum type="arabicPeriod"/>
            </a:pPr>
            <a:r>
              <a:rPr lang="en-GB">
                <a:solidFill>
                  <a:schemeClr val="dk2"/>
                </a:solidFill>
              </a:rPr>
              <a:t>            n=n-m;</a:t>
            </a:r>
            <a:endParaRPr>
              <a:solidFill>
                <a:schemeClr val="dk2"/>
              </a:solidFill>
            </a:endParaRPr>
          </a:p>
          <a:p>
            <a:pPr indent="-308610" lvl="0" marL="457200" rtl="0" algn="l">
              <a:lnSpc>
                <a:spcPct val="115000"/>
              </a:lnSpc>
              <a:spcBef>
                <a:spcPts val="0"/>
              </a:spcBef>
              <a:spcAft>
                <a:spcPts val="0"/>
              </a:spcAft>
              <a:buClr>
                <a:schemeClr val="dk2"/>
              </a:buClr>
              <a:buSzPct val="100000"/>
              <a:buAutoNum type="arabicPeriod"/>
            </a:pPr>
            <a:r>
              <a:rPr lang="en-GB">
                <a:solidFill>
                  <a:schemeClr val="dk2"/>
                </a:solidFill>
              </a:rPr>
              <a:t>    }</a:t>
            </a:r>
            <a:endParaRPr>
              <a:solidFill>
                <a:schemeClr val="dk2"/>
              </a:solidFill>
            </a:endParaRPr>
          </a:p>
          <a:p>
            <a:pPr indent="-228600" lvl="0" marL="457200" rtl="0" algn="l">
              <a:lnSpc>
                <a:spcPct val="115000"/>
              </a:lnSpc>
              <a:spcBef>
                <a:spcPts val="0"/>
              </a:spcBef>
              <a:spcAft>
                <a:spcPts val="0"/>
              </a:spcAft>
              <a:buClr>
                <a:schemeClr val="dk2"/>
              </a:buClr>
              <a:buSzPct val="100000"/>
              <a:buNone/>
            </a:pPr>
            <a:r>
              <a:t/>
            </a:r>
            <a:endParaRPr>
              <a:solidFill>
                <a:schemeClr val="dk2"/>
              </a:solidFill>
            </a:endParaRPr>
          </a:p>
          <a:p>
            <a:pPr indent="-308610" lvl="0" marL="457200" rtl="0" algn="l">
              <a:lnSpc>
                <a:spcPct val="115000"/>
              </a:lnSpc>
              <a:spcBef>
                <a:spcPts val="0"/>
              </a:spcBef>
              <a:spcAft>
                <a:spcPts val="0"/>
              </a:spcAft>
              <a:buClr>
                <a:schemeClr val="dk2"/>
              </a:buClr>
              <a:buSzPct val="100000"/>
              <a:buAutoNum type="arabicPeriod"/>
            </a:pPr>
            <a:r>
              <a:rPr lang="en-GB">
                <a:solidFill>
                  <a:schemeClr val="dk2"/>
                </a:solidFill>
              </a:rPr>
              <a:t>    cout&lt;&lt;"\nH.C.F of [ "&lt;&lt;a&lt;&lt;" ] and [ "&lt;&lt;b&lt;&lt;" ] is :: "&lt;&lt;m&lt;&lt;"\n";</a:t>
            </a:r>
            <a:endParaRPr>
              <a:solidFill>
                <a:schemeClr val="dk2"/>
              </a:solidFill>
            </a:endParaRPr>
          </a:p>
          <a:p>
            <a:pPr indent="-308610" lvl="0" marL="457200" rtl="0" algn="l">
              <a:lnSpc>
                <a:spcPct val="115000"/>
              </a:lnSpc>
              <a:spcBef>
                <a:spcPts val="0"/>
              </a:spcBef>
              <a:spcAft>
                <a:spcPts val="0"/>
              </a:spcAft>
              <a:buClr>
                <a:schemeClr val="dk2"/>
              </a:buClr>
              <a:buSzPct val="100000"/>
              <a:buAutoNum type="arabicPeriod"/>
            </a:pPr>
            <a:r>
              <a:rPr lang="en-GB">
                <a:solidFill>
                  <a:schemeClr val="dk2"/>
                </a:solidFill>
              </a:rPr>
              <a:t>}</a:t>
            </a:r>
            <a:endParaRPr>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9"/>
          <p:cNvSpPr txBox="1"/>
          <p:nvPr>
            <p:ph type="title"/>
          </p:nvPr>
        </p:nvSpPr>
        <p:spPr>
          <a:xfrm>
            <a:off x="98250" y="16350"/>
            <a:ext cx="8826600" cy="602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800"/>
              <a:buNone/>
            </a:pPr>
            <a:r>
              <a:rPr lang="en-GB"/>
              <a:t>Exercise: Draw Control Flow and Write Unit Tests to achieve 100% Branch Coverage</a:t>
            </a:r>
            <a:endParaRPr/>
          </a:p>
        </p:txBody>
      </p:sp>
      <p:sp>
        <p:nvSpPr>
          <p:cNvPr id="135" name="Google Shape;135;p9"/>
          <p:cNvSpPr txBox="1"/>
          <p:nvPr>
            <p:ph idx="4294967295" type="body"/>
          </p:nvPr>
        </p:nvSpPr>
        <p:spPr>
          <a:xfrm>
            <a:off x="181550" y="890875"/>
            <a:ext cx="8451300" cy="3756300"/>
          </a:xfrm>
          <a:prstGeom prst="rect">
            <a:avLst/>
          </a:prstGeom>
          <a:noFill/>
          <a:ln>
            <a:noFill/>
          </a:ln>
        </p:spPr>
        <p:txBody>
          <a:bodyPr anchorCtr="0" anchor="t" bIns="91425" lIns="91425" spcFirstLastPara="1" rIns="91425" wrap="square" tIns="91425">
            <a:normAutofit fontScale="62500" lnSpcReduction="20000"/>
          </a:bodyPr>
          <a:lstStyle/>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#include &lt;iostream&gt;</a:t>
            </a:r>
            <a:endParaRPr>
              <a:solidFill>
                <a:schemeClr val="dk2"/>
              </a:solidFill>
            </a:endParaRPr>
          </a:p>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using namespace std;</a:t>
            </a:r>
            <a:endParaRPr>
              <a:solidFill>
                <a:schemeClr val="dk2"/>
              </a:solidFill>
            </a:endParaRPr>
          </a:p>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 </a:t>
            </a:r>
            <a:endParaRPr>
              <a:solidFill>
                <a:schemeClr val="dk2"/>
              </a:solidFill>
            </a:endParaRPr>
          </a:p>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int main () {</a:t>
            </a:r>
            <a:endParaRPr>
              <a:solidFill>
                <a:schemeClr val="dk2"/>
              </a:solidFill>
            </a:endParaRPr>
          </a:p>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   // local variable declaration:</a:t>
            </a:r>
            <a:endParaRPr>
              <a:solidFill>
                <a:schemeClr val="dk2"/>
              </a:solidFill>
            </a:endParaRPr>
          </a:p>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   int a = 100;</a:t>
            </a:r>
            <a:endParaRPr>
              <a:solidFill>
                <a:schemeClr val="dk2"/>
              </a:solidFill>
            </a:endParaRPr>
          </a:p>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   int b = 200;</a:t>
            </a:r>
            <a:endParaRPr>
              <a:solidFill>
                <a:schemeClr val="dk2"/>
              </a:solidFill>
            </a:endParaRPr>
          </a:p>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 </a:t>
            </a:r>
            <a:endParaRPr>
              <a:solidFill>
                <a:schemeClr val="dk2"/>
              </a:solidFill>
            </a:endParaRPr>
          </a:p>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   // check the boolean condition</a:t>
            </a:r>
            <a:endParaRPr>
              <a:solidFill>
                <a:schemeClr val="dk2"/>
              </a:solidFill>
            </a:endParaRPr>
          </a:p>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   if( a == 100 ) {</a:t>
            </a:r>
            <a:endParaRPr>
              <a:solidFill>
                <a:schemeClr val="dk2"/>
              </a:solidFill>
            </a:endParaRPr>
          </a:p>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      // if condition is true then check the following</a:t>
            </a:r>
            <a:endParaRPr>
              <a:solidFill>
                <a:schemeClr val="dk2"/>
              </a:solidFill>
            </a:endParaRPr>
          </a:p>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      if( b == 200 ) {</a:t>
            </a:r>
            <a:endParaRPr>
              <a:solidFill>
                <a:schemeClr val="dk2"/>
              </a:solidFill>
            </a:endParaRPr>
          </a:p>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         // if condition is true then print the following</a:t>
            </a:r>
            <a:endParaRPr>
              <a:solidFill>
                <a:schemeClr val="dk2"/>
              </a:solidFill>
            </a:endParaRPr>
          </a:p>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         cout &lt;&lt; "Value of a is 100 and b is 200" &lt;&lt; endl;</a:t>
            </a:r>
            <a:endParaRPr>
              <a:solidFill>
                <a:schemeClr val="dk2"/>
              </a:solidFill>
            </a:endParaRPr>
          </a:p>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      }</a:t>
            </a:r>
            <a:endParaRPr>
              <a:solidFill>
                <a:schemeClr val="dk2"/>
              </a:solidFill>
            </a:endParaRPr>
          </a:p>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   }</a:t>
            </a:r>
            <a:endParaRPr>
              <a:solidFill>
                <a:schemeClr val="dk2"/>
              </a:solidFill>
            </a:endParaRPr>
          </a:p>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   cout &lt;&lt; "Exact value of a is : " &lt;&lt; a &lt;&lt; endl;</a:t>
            </a:r>
            <a:endParaRPr>
              <a:solidFill>
                <a:schemeClr val="dk2"/>
              </a:solidFill>
            </a:endParaRPr>
          </a:p>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   cout &lt;&lt; "Exact value of b is : " &lt;&lt; b &lt;&lt; endl;</a:t>
            </a:r>
            <a:endParaRPr>
              <a:solidFill>
                <a:schemeClr val="dk2"/>
              </a:solidFill>
            </a:endParaRPr>
          </a:p>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 </a:t>
            </a:r>
            <a:endParaRPr>
              <a:solidFill>
                <a:schemeClr val="dk2"/>
              </a:solidFill>
            </a:endParaRPr>
          </a:p>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   return 0;</a:t>
            </a:r>
            <a:endParaRPr>
              <a:solidFill>
                <a:schemeClr val="dk2"/>
              </a:solidFill>
            </a:endParaRPr>
          </a:p>
          <a:p>
            <a:pPr indent="-300037" lvl="0" marL="457200" rtl="0" algn="l">
              <a:lnSpc>
                <a:spcPct val="115000"/>
              </a:lnSpc>
              <a:spcBef>
                <a:spcPts val="0"/>
              </a:spcBef>
              <a:spcAft>
                <a:spcPts val="0"/>
              </a:spcAft>
              <a:buClr>
                <a:schemeClr val="dk2"/>
              </a:buClr>
              <a:buSzPct val="100000"/>
              <a:buAutoNum type="arabicPeriod"/>
            </a:pPr>
            <a:r>
              <a:rPr lang="en-GB">
                <a:solidFill>
                  <a:schemeClr val="dk2"/>
                </a:solidFill>
              </a:rPr>
              <a:t>}</a:t>
            </a:r>
            <a:endParaRPr>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0"/>
          <p:cNvSpPr txBox="1"/>
          <p:nvPr>
            <p:ph idx="1" type="body"/>
          </p:nvPr>
        </p:nvSpPr>
        <p:spPr>
          <a:xfrm>
            <a:off x="57150" y="4696825"/>
            <a:ext cx="8382000" cy="446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200"/>
              <a:buNone/>
            </a:pPr>
            <a:r>
              <a:rPr lang="en-GB"/>
              <a:t>Limitation of Branch Coverage</a:t>
            </a:r>
            <a:endParaRPr/>
          </a:p>
        </p:txBody>
      </p:sp>
      <p:sp>
        <p:nvSpPr>
          <p:cNvPr id="141" name="Google Shape;141;p10"/>
          <p:cNvSpPr txBox="1"/>
          <p:nvPr>
            <p:ph idx="1" type="body"/>
          </p:nvPr>
        </p:nvSpPr>
        <p:spPr>
          <a:xfrm>
            <a:off x="224500" y="297025"/>
            <a:ext cx="8451300" cy="3274500"/>
          </a:xfrm>
          <a:prstGeom prst="rect">
            <a:avLst/>
          </a:prstGeom>
          <a:noFill/>
          <a:ln>
            <a:noFill/>
          </a:ln>
        </p:spPr>
        <p:txBody>
          <a:bodyPr anchorCtr="0" anchor="ctr" bIns="91425" lIns="91425" spcFirstLastPara="1" rIns="91425" wrap="square" tIns="91425">
            <a:normAutofit/>
          </a:bodyPr>
          <a:lstStyle/>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int someFunc(int x, int y) {</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if (x == 0 || y &gt; 0)</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y = y / x;</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return y;</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Write minimum Test Case(s) to achieve 100% Statement Coverage</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		</a:t>
            </a:r>
            <a:r>
              <a:rPr b="1" lang="en-GB">
                <a:solidFill>
                  <a:schemeClr val="dk2"/>
                </a:solidFill>
              </a:rPr>
              <a:t>x	y	Output</a:t>
            </a:r>
            <a:r>
              <a:rPr lang="en-GB">
                <a:solidFill>
                  <a:schemeClr val="dk2"/>
                </a:solidFill>
              </a:rPr>
              <a:t>		</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TC1		4	4	4</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TC2		4	0	4</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Statement Coverage = 100%</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Branch Coverage  = 100%</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p:txBody>
      </p:sp>
      <p:sp>
        <p:nvSpPr>
          <p:cNvPr id="142" name="Google Shape;142;p10"/>
          <p:cNvSpPr txBox="1"/>
          <p:nvPr>
            <p:ph idx="1" type="body"/>
          </p:nvPr>
        </p:nvSpPr>
        <p:spPr>
          <a:xfrm>
            <a:off x="224500" y="3681075"/>
            <a:ext cx="8382000" cy="59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200"/>
              <a:buNone/>
            </a:pPr>
            <a:r>
              <a:rPr lang="en-GB">
                <a:solidFill>
                  <a:srgbClr val="FF0000"/>
                </a:solidFill>
              </a:rPr>
              <a:t>Without considering the requirements is there any issue in code? Which other test case could have found it?</a:t>
            </a:r>
            <a:endParaRPr>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1"/>
          <p:cNvSpPr txBox="1"/>
          <p:nvPr>
            <p:ph idx="1" type="body"/>
          </p:nvPr>
        </p:nvSpPr>
        <p:spPr>
          <a:xfrm>
            <a:off x="0" y="4696800"/>
            <a:ext cx="9086850" cy="446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200"/>
              <a:buNone/>
            </a:pPr>
            <a:r>
              <a:rPr lang="en-GB"/>
              <a:t>Limitation of Branch Coverage</a:t>
            </a:r>
            <a:endParaRPr/>
          </a:p>
        </p:txBody>
      </p:sp>
      <p:sp>
        <p:nvSpPr>
          <p:cNvPr id="148" name="Google Shape;148;p11"/>
          <p:cNvSpPr txBox="1"/>
          <p:nvPr>
            <p:ph idx="1" type="body"/>
          </p:nvPr>
        </p:nvSpPr>
        <p:spPr>
          <a:xfrm>
            <a:off x="224500" y="297025"/>
            <a:ext cx="8451300" cy="3274500"/>
          </a:xfrm>
          <a:prstGeom prst="rect">
            <a:avLst/>
          </a:prstGeom>
          <a:noFill/>
          <a:ln>
            <a:noFill/>
          </a:ln>
        </p:spPr>
        <p:txBody>
          <a:bodyPr anchorCtr="0" anchor="ctr" bIns="91425" lIns="91425" spcFirstLastPara="1" rIns="91425" wrap="square" tIns="91425">
            <a:normAutofit/>
          </a:bodyPr>
          <a:lstStyle/>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int someFunc(int x, int y) {</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if (x == 0 || y &gt; 0)</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y = y / x;</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    return y;</a:t>
            </a:r>
            <a:endParaRPr>
              <a:solidFill>
                <a:schemeClr val="dk2"/>
              </a:solidFill>
            </a:endParaRPr>
          </a:p>
          <a:p>
            <a:pPr indent="-304800" lvl="0" marL="457200" rtl="0" algn="l">
              <a:lnSpc>
                <a:spcPct val="100000"/>
              </a:lnSpc>
              <a:spcBef>
                <a:spcPts val="0"/>
              </a:spcBef>
              <a:spcAft>
                <a:spcPts val="0"/>
              </a:spcAft>
              <a:buClr>
                <a:schemeClr val="dk2"/>
              </a:buClr>
              <a:buSzPts val="1200"/>
              <a:buAutoNum type="arabicPeriod"/>
            </a:pPr>
            <a:r>
              <a:rPr lang="en-GB">
                <a:solidFill>
                  <a:schemeClr val="dk2"/>
                </a:solidFill>
              </a:rPr>
              <a:t>}</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Write minimum Test Case(s) to achieve 100% Statement Coverage</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		</a:t>
            </a:r>
            <a:r>
              <a:rPr b="1" lang="en-GB">
                <a:solidFill>
                  <a:schemeClr val="dk2"/>
                </a:solidFill>
              </a:rPr>
              <a:t>x	y	Output</a:t>
            </a:r>
            <a:r>
              <a:rPr lang="en-GB">
                <a:solidFill>
                  <a:schemeClr val="dk2"/>
                </a:solidFill>
              </a:rPr>
              <a:t>		</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TC1		4	4	1</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TC2		6	0	0</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Statement Coverage = 100%</a:t>
            </a:r>
            <a:endParaRPr>
              <a:solidFill>
                <a:schemeClr val="dk2"/>
              </a:solidFill>
            </a:endParaRPr>
          </a:p>
          <a:p>
            <a:pPr indent="0" lvl="0" marL="0" rtl="0" algn="l">
              <a:lnSpc>
                <a:spcPct val="100000"/>
              </a:lnSpc>
              <a:spcBef>
                <a:spcPts val="0"/>
              </a:spcBef>
              <a:spcAft>
                <a:spcPts val="0"/>
              </a:spcAft>
              <a:buSzPts val="1200"/>
              <a:buNone/>
            </a:pPr>
            <a:r>
              <a:rPr lang="en-GB">
                <a:solidFill>
                  <a:schemeClr val="dk2"/>
                </a:solidFill>
              </a:rPr>
              <a:t>Branch Coverage  = 100%</a:t>
            </a:r>
            <a:endParaRPr>
              <a:solidFill>
                <a:schemeClr val="dk2"/>
              </a:solidFill>
            </a:endParaRPr>
          </a:p>
          <a:p>
            <a:pPr indent="0" lvl="0" marL="0" rtl="0" algn="l">
              <a:lnSpc>
                <a:spcPct val="100000"/>
              </a:lnSpc>
              <a:spcBef>
                <a:spcPts val="0"/>
              </a:spcBef>
              <a:spcAft>
                <a:spcPts val="0"/>
              </a:spcAft>
              <a:buSzPts val="1200"/>
              <a:buNone/>
            </a:pPr>
            <a:r>
              <a:t/>
            </a:r>
            <a:endParaRPr>
              <a:solidFill>
                <a:schemeClr val="dk2"/>
              </a:solidFill>
            </a:endParaRPr>
          </a:p>
        </p:txBody>
      </p:sp>
      <p:sp>
        <p:nvSpPr>
          <p:cNvPr id="149" name="Google Shape;149;p11"/>
          <p:cNvSpPr txBox="1"/>
          <p:nvPr>
            <p:ph idx="1" type="body"/>
          </p:nvPr>
        </p:nvSpPr>
        <p:spPr>
          <a:xfrm>
            <a:off x="325850" y="3384575"/>
            <a:ext cx="8382000" cy="1200600"/>
          </a:xfrm>
          <a:prstGeom prst="rect">
            <a:avLst/>
          </a:prstGeom>
          <a:noFill/>
          <a:ln>
            <a:noFill/>
          </a:ln>
        </p:spPr>
        <p:txBody>
          <a:bodyPr anchorCtr="0" anchor="ctr" bIns="91425" lIns="91425" spcFirstLastPara="1" rIns="91425" wrap="square" tIns="91425">
            <a:normAutofit lnSpcReduction="10000"/>
          </a:bodyPr>
          <a:lstStyle/>
          <a:p>
            <a:pPr indent="0" lvl="0" marL="0" rtl="0" algn="l">
              <a:lnSpc>
                <a:spcPct val="100000"/>
              </a:lnSpc>
              <a:spcBef>
                <a:spcPts val="0"/>
              </a:spcBef>
              <a:spcAft>
                <a:spcPts val="0"/>
              </a:spcAft>
              <a:buSzPts val="1200"/>
              <a:buNone/>
            </a:pPr>
            <a:r>
              <a:rPr lang="en-GB">
                <a:solidFill>
                  <a:schemeClr val="dk2"/>
                </a:solidFill>
              </a:rPr>
              <a:t>Without considering the requirements is there any issue in code? Which other test case could have found it?</a:t>
            </a:r>
            <a:endParaRPr>
              <a:solidFill>
                <a:schemeClr val="dk2"/>
              </a:solidFill>
            </a:endParaRPr>
          </a:p>
          <a:p>
            <a:pPr indent="0" lvl="0" marL="0" rtl="0" algn="l">
              <a:lnSpc>
                <a:spcPct val="100000"/>
              </a:lnSpc>
              <a:spcBef>
                <a:spcPts val="0"/>
              </a:spcBef>
              <a:spcAft>
                <a:spcPts val="0"/>
              </a:spcAft>
              <a:buSzPts val="1200"/>
              <a:buNone/>
            </a:pPr>
            <a:r>
              <a:t/>
            </a:r>
            <a:endParaRPr>
              <a:solidFill>
                <a:srgbClr val="FF0000"/>
              </a:solidFill>
            </a:endParaRPr>
          </a:p>
          <a:p>
            <a:pPr indent="-304800" lvl="0" marL="457200" rtl="0" algn="l">
              <a:lnSpc>
                <a:spcPct val="100000"/>
              </a:lnSpc>
              <a:spcBef>
                <a:spcPts val="0"/>
              </a:spcBef>
              <a:spcAft>
                <a:spcPts val="0"/>
              </a:spcAft>
              <a:buClr>
                <a:srgbClr val="FF0000"/>
              </a:buClr>
              <a:buSzPts val="1200"/>
              <a:buChar char="-"/>
            </a:pPr>
            <a:r>
              <a:rPr lang="en-GB">
                <a:solidFill>
                  <a:srgbClr val="FF0000"/>
                </a:solidFill>
              </a:rPr>
              <a:t>If x == 0 then system will result in division by 0. We need a test case like x=0 and y = 12 i.e. need to cover</a:t>
            </a:r>
            <a:endParaRPr>
              <a:solidFill>
                <a:srgbClr val="FF0000"/>
              </a:solidFill>
            </a:endParaRPr>
          </a:p>
          <a:p>
            <a:pPr indent="-304800" lvl="1" marL="914400" rtl="0" algn="l">
              <a:lnSpc>
                <a:spcPct val="115000"/>
              </a:lnSpc>
              <a:spcBef>
                <a:spcPts val="0"/>
              </a:spcBef>
              <a:spcAft>
                <a:spcPts val="0"/>
              </a:spcAft>
              <a:buClr>
                <a:srgbClr val="FF0000"/>
              </a:buClr>
              <a:buSzPts val="1200"/>
              <a:buChar char="-"/>
            </a:pPr>
            <a:r>
              <a:rPr lang="en-GB">
                <a:solidFill>
                  <a:srgbClr val="FF0000"/>
                </a:solidFill>
              </a:rPr>
              <a:t>True and false case of atomic condition x == 0</a:t>
            </a:r>
            <a:endParaRPr>
              <a:solidFill>
                <a:srgbClr val="FF0000"/>
              </a:solidFill>
            </a:endParaRPr>
          </a:p>
          <a:p>
            <a:pPr indent="-304800" lvl="1" marL="914400" rtl="0" algn="l">
              <a:lnSpc>
                <a:spcPct val="115000"/>
              </a:lnSpc>
              <a:spcBef>
                <a:spcPts val="0"/>
              </a:spcBef>
              <a:spcAft>
                <a:spcPts val="0"/>
              </a:spcAft>
              <a:buClr>
                <a:srgbClr val="FF0000"/>
              </a:buClr>
              <a:buSzPts val="1200"/>
              <a:buChar char="-"/>
            </a:pPr>
            <a:r>
              <a:rPr lang="en-GB">
                <a:solidFill>
                  <a:srgbClr val="FF0000"/>
                </a:solidFill>
              </a:rPr>
              <a:t>True and false case of atomic condition y &gt; 0</a:t>
            </a:r>
            <a:endParaRPr>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2"/>
          <p:cNvSpPr txBox="1"/>
          <p:nvPr>
            <p:ph idx="4294967295" type="body"/>
          </p:nvPr>
        </p:nvSpPr>
        <p:spPr>
          <a:xfrm>
            <a:off x="354875" y="922050"/>
            <a:ext cx="7737300" cy="3821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t>The percentage of atomic conditions within decision expressions that have been evaluated to both true and false</a:t>
            </a:r>
            <a:endParaRPr/>
          </a:p>
          <a:p>
            <a:pPr indent="-342900" lvl="0" marL="457200" rtl="0" algn="l">
              <a:lnSpc>
                <a:spcPct val="115000"/>
              </a:lnSpc>
              <a:spcBef>
                <a:spcPts val="0"/>
              </a:spcBef>
              <a:spcAft>
                <a:spcPts val="0"/>
              </a:spcAft>
              <a:buSzPts val="1800"/>
              <a:buChar char="-"/>
            </a:pPr>
            <a:r>
              <a:rPr lang="en-GB"/>
              <a:t>Note that 100% condition coverage does not guarantee 100% decision coverage</a:t>
            </a:r>
            <a:endParaRPr/>
          </a:p>
          <a:p>
            <a:pPr indent="-317500" lvl="1" marL="914400" rtl="0" algn="l">
              <a:lnSpc>
                <a:spcPct val="115000"/>
              </a:lnSpc>
              <a:spcBef>
                <a:spcPts val="0"/>
              </a:spcBef>
              <a:spcAft>
                <a:spcPts val="0"/>
              </a:spcAft>
              <a:buSzPts val="1400"/>
              <a:buChar char="-"/>
            </a:pPr>
            <a:r>
              <a:rPr lang="en-GB"/>
              <a:t>For example: in previous example, following two test cases will result in 100% Condition coverage but not decision coverage</a:t>
            </a:r>
            <a:endParaRPr/>
          </a:p>
          <a:p>
            <a:pPr indent="-317500" lvl="2" marL="1371600" rtl="0" algn="l">
              <a:lnSpc>
                <a:spcPct val="115000"/>
              </a:lnSpc>
              <a:spcBef>
                <a:spcPts val="0"/>
              </a:spcBef>
              <a:spcAft>
                <a:spcPts val="0"/>
              </a:spcAft>
              <a:buSzPts val="1400"/>
              <a:buChar char="-"/>
            </a:pPr>
            <a:r>
              <a:rPr lang="en-GB"/>
              <a:t>TC1: x = 0, y = -6</a:t>
            </a:r>
            <a:endParaRPr/>
          </a:p>
          <a:p>
            <a:pPr indent="-317500" lvl="2" marL="1371600" rtl="0" algn="l">
              <a:lnSpc>
                <a:spcPct val="115000"/>
              </a:lnSpc>
              <a:spcBef>
                <a:spcPts val="0"/>
              </a:spcBef>
              <a:spcAft>
                <a:spcPts val="0"/>
              </a:spcAft>
              <a:buSzPts val="1400"/>
              <a:buChar char="-"/>
            </a:pPr>
            <a:r>
              <a:rPr lang="en-GB"/>
              <a:t>TC2: x = 3, y = 6</a:t>
            </a:r>
            <a:endParaRPr/>
          </a:p>
        </p:txBody>
      </p:sp>
      <p:sp>
        <p:nvSpPr>
          <p:cNvPr id="155" name="Google Shape;155;p12"/>
          <p:cNvSpPr txBox="1"/>
          <p:nvPr>
            <p:ph type="title"/>
          </p:nvPr>
        </p:nvSpPr>
        <p:spPr>
          <a:xfrm>
            <a:off x="98250" y="16350"/>
            <a:ext cx="8826600" cy="602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800"/>
              <a:buNone/>
            </a:pPr>
            <a:r>
              <a:rPr lang="en-GB"/>
              <a:t>Condition Coverage</a:t>
            </a:r>
            <a:endParaRPr sz="1200"/>
          </a:p>
        </p:txBody>
      </p:sp>
      <p:grpSp>
        <p:nvGrpSpPr>
          <p:cNvPr id="156" name="Google Shape;156;p12"/>
          <p:cNvGrpSpPr/>
          <p:nvPr/>
        </p:nvGrpSpPr>
        <p:grpSpPr>
          <a:xfrm>
            <a:off x="6329400" y="2924125"/>
            <a:ext cx="1062000" cy="1646375"/>
            <a:chOff x="6267350" y="1069425"/>
            <a:chExt cx="1062000" cy="1646375"/>
          </a:xfrm>
        </p:grpSpPr>
        <p:sp>
          <p:nvSpPr>
            <p:cNvPr id="157" name="Google Shape;157;p12"/>
            <p:cNvSpPr/>
            <p:nvPr/>
          </p:nvSpPr>
          <p:spPr>
            <a:xfrm>
              <a:off x="6267350" y="1069425"/>
              <a:ext cx="531000" cy="517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Roboto"/>
                  <a:ea typeface="Roboto"/>
                  <a:cs typeface="Roboto"/>
                  <a:sym typeface="Roboto"/>
                </a:rPr>
                <a:t>2</a:t>
              </a:r>
              <a:endParaRPr b="0" i="0" sz="1100" u="none" cap="none" strike="noStrike">
                <a:solidFill>
                  <a:srgbClr val="000000"/>
                </a:solidFill>
                <a:latin typeface="Roboto"/>
                <a:ea typeface="Roboto"/>
                <a:cs typeface="Roboto"/>
                <a:sym typeface="Roboto"/>
              </a:endParaRPr>
            </a:p>
          </p:txBody>
        </p:sp>
        <p:sp>
          <p:nvSpPr>
            <p:cNvPr id="158" name="Google Shape;158;p12"/>
            <p:cNvSpPr/>
            <p:nvPr/>
          </p:nvSpPr>
          <p:spPr>
            <a:xfrm>
              <a:off x="6798350" y="1606063"/>
              <a:ext cx="531000" cy="517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Roboto"/>
                  <a:ea typeface="Roboto"/>
                  <a:cs typeface="Roboto"/>
                  <a:sym typeface="Roboto"/>
                </a:rPr>
                <a:t>3</a:t>
              </a:r>
              <a:endParaRPr b="0" i="0" sz="1100" u="none" cap="none" strike="noStrike">
                <a:solidFill>
                  <a:srgbClr val="000000"/>
                </a:solidFill>
                <a:latin typeface="Roboto"/>
                <a:ea typeface="Roboto"/>
                <a:cs typeface="Roboto"/>
                <a:sym typeface="Roboto"/>
              </a:endParaRPr>
            </a:p>
          </p:txBody>
        </p:sp>
        <p:sp>
          <p:nvSpPr>
            <p:cNvPr id="159" name="Google Shape;159;p12"/>
            <p:cNvSpPr/>
            <p:nvPr/>
          </p:nvSpPr>
          <p:spPr>
            <a:xfrm>
              <a:off x="6302450" y="2198600"/>
              <a:ext cx="531000" cy="517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Roboto"/>
                  <a:ea typeface="Roboto"/>
                  <a:cs typeface="Roboto"/>
                  <a:sym typeface="Roboto"/>
                </a:rPr>
                <a:t>4</a:t>
              </a:r>
              <a:endParaRPr b="0" i="0" sz="1100" u="none" cap="none" strike="noStrike">
                <a:solidFill>
                  <a:srgbClr val="000000"/>
                </a:solidFill>
                <a:latin typeface="Roboto"/>
                <a:ea typeface="Roboto"/>
                <a:cs typeface="Roboto"/>
                <a:sym typeface="Roboto"/>
              </a:endParaRPr>
            </a:p>
          </p:txBody>
        </p:sp>
        <p:cxnSp>
          <p:nvCxnSpPr>
            <p:cNvPr id="160" name="Google Shape;160;p12"/>
            <p:cNvCxnSpPr>
              <a:stCxn id="157" idx="5"/>
              <a:endCxn id="158" idx="1"/>
            </p:cNvCxnSpPr>
            <p:nvPr/>
          </p:nvCxnSpPr>
          <p:spPr>
            <a:xfrm>
              <a:off x="6720587" y="1510883"/>
              <a:ext cx="155400" cy="171000"/>
            </a:xfrm>
            <a:prstGeom prst="straightConnector1">
              <a:avLst/>
            </a:prstGeom>
            <a:noFill/>
            <a:ln cap="flat" cmpd="sng" w="9525">
              <a:solidFill>
                <a:schemeClr val="dk2"/>
              </a:solidFill>
              <a:prstDash val="solid"/>
              <a:round/>
              <a:headEnd len="sm" w="sm" type="none"/>
              <a:tailEnd len="med" w="med" type="triangle"/>
            </a:ln>
          </p:spPr>
        </p:cxnSp>
        <p:cxnSp>
          <p:nvCxnSpPr>
            <p:cNvPr id="161" name="Google Shape;161;p12"/>
            <p:cNvCxnSpPr>
              <a:stCxn id="158" idx="3"/>
              <a:endCxn id="159" idx="7"/>
            </p:cNvCxnSpPr>
            <p:nvPr/>
          </p:nvCxnSpPr>
          <p:spPr>
            <a:xfrm flipH="1">
              <a:off x="6755813" y="2047521"/>
              <a:ext cx="120300" cy="226800"/>
            </a:xfrm>
            <a:prstGeom prst="straightConnector1">
              <a:avLst/>
            </a:prstGeom>
            <a:noFill/>
            <a:ln cap="flat" cmpd="sng" w="9525">
              <a:solidFill>
                <a:schemeClr val="dk2"/>
              </a:solidFill>
              <a:prstDash val="solid"/>
              <a:round/>
              <a:headEnd len="sm" w="sm" type="none"/>
              <a:tailEnd len="med" w="med" type="triangle"/>
            </a:ln>
          </p:spPr>
        </p:cxnSp>
        <p:cxnSp>
          <p:nvCxnSpPr>
            <p:cNvPr id="162" name="Google Shape;162;p12"/>
            <p:cNvCxnSpPr>
              <a:stCxn id="157" idx="4"/>
              <a:endCxn id="159" idx="0"/>
            </p:cNvCxnSpPr>
            <p:nvPr/>
          </p:nvCxnSpPr>
          <p:spPr>
            <a:xfrm>
              <a:off x="6532850" y="1586625"/>
              <a:ext cx="35100" cy="612000"/>
            </a:xfrm>
            <a:prstGeom prst="straightConnector1">
              <a:avLst/>
            </a:prstGeom>
            <a:noFill/>
            <a:ln cap="flat" cmpd="sng" w="9525">
              <a:solidFill>
                <a:schemeClr val="dk2"/>
              </a:solidFill>
              <a:prstDash val="solid"/>
              <a:round/>
              <a:headEnd len="sm" w="sm" type="none"/>
              <a:tailEnd len="med" w="med" type="triangle"/>
            </a:ln>
          </p:spPr>
        </p:cxnSp>
      </p:grpSp>
      <p:pic>
        <p:nvPicPr>
          <p:cNvPr id="163" name="Google Shape;163;p12"/>
          <p:cNvPicPr preferRelativeResize="0"/>
          <p:nvPr/>
        </p:nvPicPr>
        <p:blipFill rotWithShape="1">
          <a:blip r:embed="rId3">
            <a:alphaModFix/>
          </a:blip>
          <a:srcRect b="0" l="0" r="0" t="0"/>
          <a:stretch/>
        </p:blipFill>
        <p:spPr>
          <a:xfrm>
            <a:off x="1588150" y="3577775"/>
            <a:ext cx="3733800" cy="1352550"/>
          </a:xfrm>
          <a:prstGeom prst="rect">
            <a:avLst/>
          </a:prstGeom>
          <a:noFill/>
          <a:ln>
            <a:noFill/>
          </a:ln>
        </p:spPr>
      </p:pic>
      <p:cxnSp>
        <p:nvCxnSpPr>
          <p:cNvPr id="164" name="Google Shape;164;p12"/>
          <p:cNvCxnSpPr/>
          <p:nvPr/>
        </p:nvCxnSpPr>
        <p:spPr>
          <a:xfrm>
            <a:off x="6853400" y="2847550"/>
            <a:ext cx="772200" cy="737700"/>
          </a:xfrm>
          <a:prstGeom prst="straightConnector1">
            <a:avLst/>
          </a:prstGeom>
          <a:noFill/>
          <a:ln cap="flat" cmpd="sng" w="9525">
            <a:solidFill>
              <a:schemeClr val="accent3"/>
            </a:solidFill>
            <a:prstDash val="solid"/>
            <a:round/>
            <a:headEnd len="sm" w="sm" type="none"/>
            <a:tailEnd len="sm" w="sm" type="none"/>
          </a:ln>
        </p:spPr>
      </p:cxnSp>
      <p:cxnSp>
        <p:nvCxnSpPr>
          <p:cNvPr id="165" name="Google Shape;165;p12"/>
          <p:cNvCxnSpPr/>
          <p:nvPr/>
        </p:nvCxnSpPr>
        <p:spPr>
          <a:xfrm flipH="1">
            <a:off x="6970725" y="3592175"/>
            <a:ext cx="648000" cy="1075500"/>
          </a:xfrm>
          <a:prstGeom prst="straightConnector1">
            <a:avLst/>
          </a:prstGeom>
          <a:noFill/>
          <a:ln cap="flat" cmpd="sng" w="9525">
            <a:solidFill>
              <a:schemeClr val="accent3"/>
            </a:solidFill>
            <a:prstDash val="solid"/>
            <a:round/>
            <a:headEnd len="sm" w="sm" type="none"/>
            <a:tailEnd len="sm" w="sm" type="none"/>
          </a:ln>
        </p:spPr>
      </p:cxnSp>
      <p:sp>
        <p:nvSpPr>
          <p:cNvPr id="166" name="Google Shape;166;p12"/>
          <p:cNvSpPr txBox="1"/>
          <p:nvPr/>
        </p:nvSpPr>
        <p:spPr>
          <a:xfrm>
            <a:off x="7391400" y="2924125"/>
            <a:ext cx="648000" cy="28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TC1, TC2</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3"/>
          <p:cNvSpPr txBox="1"/>
          <p:nvPr>
            <p:ph idx="4294967295" type="body"/>
          </p:nvPr>
        </p:nvSpPr>
        <p:spPr>
          <a:xfrm>
            <a:off x="354875" y="922050"/>
            <a:ext cx="7737300" cy="3821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t>The percentage of all condition outcomes and decision outcomes that have been exercised by a test suite. 100% decision condition coverage implies both 100% condition coverage and 100% decision coverage.</a:t>
            </a:r>
            <a:endParaRPr/>
          </a:p>
          <a:p>
            <a:pPr indent="-317500" lvl="1" marL="914400" rtl="0" algn="l">
              <a:lnSpc>
                <a:spcPct val="115000"/>
              </a:lnSpc>
              <a:spcBef>
                <a:spcPts val="0"/>
              </a:spcBef>
              <a:spcAft>
                <a:spcPts val="0"/>
              </a:spcAft>
              <a:buSzPts val="1400"/>
              <a:buChar char="-"/>
            </a:pPr>
            <a:r>
              <a:rPr lang="en-GB"/>
              <a:t>For example: in previous example, following two test cases will result in 100% Condition coverage and 100 % decision coverage</a:t>
            </a:r>
            <a:endParaRPr/>
          </a:p>
          <a:p>
            <a:pPr indent="-317500" lvl="2" marL="1371600" rtl="0" algn="l">
              <a:lnSpc>
                <a:spcPct val="115000"/>
              </a:lnSpc>
              <a:spcBef>
                <a:spcPts val="0"/>
              </a:spcBef>
              <a:spcAft>
                <a:spcPts val="0"/>
              </a:spcAft>
              <a:buSzPts val="1400"/>
              <a:buChar char="-"/>
            </a:pPr>
            <a:r>
              <a:rPr lang="en-GB"/>
              <a:t>TC1: x = 0, y = 6</a:t>
            </a:r>
            <a:endParaRPr/>
          </a:p>
          <a:p>
            <a:pPr indent="-317500" lvl="2" marL="1371600" rtl="0" algn="l">
              <a:lnSpc>
                <a:spcPct val="115000"/>
              </a:lnSpc>
              <a:spcBef>
                <a:spcPts val="0"/>
              </a:spcBef>
              <a:spcAft>
                <a:spcPts val="0"/>
              </a:spcAft>
              <a:buSzPts val="1400"/>
              <a:buChar char="-"/>
            </a:pPr>
            <a:r>
              <a:rPr lang="en-GB"/>
              <a:t>TC2: x = 3, y = -6</a:t>
            </a:r>
            <a:endParaRPr/>
          </a:p>
        </p:txBody>
      </p:sp>
      <p:sp>
        <p:nvSpPr>
          <p:cNvPr id="172" name="Google Shape;172;p13"/>
          <p:cNvSpPr txBox="1"/>
          <p:nvPr>
            <p:ph type="title"/>
          </p:nvPr>
        </p:nvSpPr>
        <p:spPr>
          <a:xfrm>
            <a:off x="98250" y="16350"/>
            <a:ext cx="8826600" cy="602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800"/>
              <a:buNone/>
            </a:pPr>
            <a:r>
              <a:rPr lang="en-GB"/>
              <a:t>Decision Condition Coverage</a:t>
            </a:r>
            <a:endParaRPr sz="1200"/>
          </a:p>
        </p:txBody>
      </p:sp>
      <p:grpSp>
        <p:nvGrpSpPr>
          <p:cNvPr id="173" name="Google Shape;173;p13"/>
          <p:cNvGrpSpPr/>
          <p:nvPr/>
        </p:nvGrpSpPr>
        <p:grpSpPr>
          <a:xfrm>
            <a:off x="6329400" y="2924125"/>
            <a:ext cx="1062000" cy="1646375"/>
            <a:chOff x="6267350" y="1069425"/>
            <a:chExt cx="1062000" cy="1646375"/>
          </a:xfrm>
        </p:grpSpPr>
        <p:sp>
          <p:nvSpPr>
            <p:cNvPr id="174" name="Google Shape;174;p13"/>
            <p:cNvSpPr/>
            <p:nvPr/>
          </p:nvSpPr>
          <p:spPr>
            <a:xfrm>
              <a:off x="6267350" y="1069425"/>
              <a:ext cx="531000" cy="517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Roboto"/>
                  <a:ea typeface="Roboto"/>
                  <a:cs typeface="Roboto"/>
                  <a:sym typeface="Roboto"/>
                </a:rPr>
                <a:t>2</a:t>
              </a:r>
              <a:endParaRPr b="0" i="0" sz="1100" u="none" cap="none" strike="noStrike">
                <a:solidFill>
                  <a:srgbClr val="000000"/>
                </a:solidFill>
                <a:latin typeface="Roboto"/>
                <a:ea typeface="Roboto"/>
                <a:cs typeface="Roboto"/>
                <a:sym typeface="Roboto"/>
              </a:endParaRPr>
            </a:p>
          </p:txBody>
        </p:sp>
        <p:sp>
          <p:nvSpPr>
            <p:cNvPr id="175" name="Google Shape;175;p13"/>
            <p:cNvSpPr/>
            <p:nvPr/>
          </p:nvSpPr>
          <p:spPr>
            <a:xfrm>
              <a:off x="6798350" y="1606063"/>
              <a:ext cx="531000" cy="517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Roboto"/>
                  <a:ea typeface="Roboto"/>
                  <a:cs typeface="Roboto"/>
                  <a:sym typeface="Roboto"/>
                </a:rPr>
                <a:t>3</a:t>
              </a:r>
              <a:endParaRPr b="0" i="0" sz="1100" u="none" cap="none" strike="noStrike">
                <a:solidFill>
                  <a:srgbClr val="000000"/>
                </a:solidFill>
                <a:latin typeface="Roboto"/>
                <a:ea typeface="Roboto"/>
                <a:cs typeface="Roboto"/>
                <a:sym typeface="Roboto"/>
              </a:endParaRPr>
            </a:p>
          </p:txBody>
        </p:sp>
        <p:sp>
          <p:nvSpPr>
            <p:cNvPr id="176" name="Google Shape;176;p13"/>
            <p:cNvSpPr/>
            <p:nvPr/>
          </p:nvSpPr>
          <p:spPr>
            <a:xfrm>
              <a:off x="6302450" y="2198600"/>
              <a:ext cx="531000" cy="517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Roboto"/>
                  <a:ea typeface="Roboto"/>
                  <a:cs typeface="Roboto"/>
                  <a:sym typeface="Roboto"/>
                </a:rPr>
                <a:t>4</a:t>
              </a:r>
              <a:endParaRPr b="0" i="0" sz="1100" u="none" cap="none" strike="noStrike">
                <a:solidFill>
                  <a:srgbClr val="000000"/>
                </a:solidFill>
                <a:latin typeface="Roboto"/>
                <a:ea typeface="Roboto"/>
                <a:cs typeface="Roboto"/>
                <a:sym typeface="Roboto"/>
              </a:endParaRPr>
            </a:p>
          </p:txBody>
        </p:sp>
        <p:cxnSp>
          <p:nvCxnSpPr>
            <p:cNvPr id="177" name="Google Shape;177;p13"/>
            <p:cNvCxnSpPr>
              <a:stCxn id="174" idx="5"/>
              <a:endCxn id="175" idx="1"/>
            </p:cNvCxnSpPr>
            <p:nvPr/>
          </p:nvCxnSpPr>
          <p:spPr>
            <a:xfrm>
              <a:off x="6720587" y="1510883"/>
              <a:ext cx="155400" cy="171000"/>
            </a:xfrm>
            <a:prstGeom prst="straightConnector1">
              <a:avLst/>
            </a:prstGeom>
            <a:noFill/>
            <a:ln cap="flat" cmpd="sng" w="9525">
              <a:solidFill>
                <a:schemeClr val="dk2"/>
              </a:solidFill>
              <a:prstDash val="solid"/>
              <a:round/>
              <a:headEnd len="sm" w="sm" type="none"/>
              <a:tailEnd len="med" w="med" type="triangle"/>
            </a:ln>
          </p:spPr>
        </p:cxnSp>
        <p:cxnSp>
          <p:nvCxnSpPr>
            <p:cNvPr id="178" name="Google Shape;178;p13"/>
            <p:cNvCxnSpPr>
              <a:stCxn id="175" idx="3"/>
              <a:endCxn id="176" idx="7"/>
            </p:cNvCxnSpPr>
            <p:nvPr/>
          </p:nvCxnSpPr>
          <p:spPr>
            <a:xfrm flipH="1">
              <a:off x="6755813" y="2047521"/>
              <a:ext cx="120300" cy="226800"/>
            </a:xfrm>
            <a:prstGeom prst="straightConnector1">
              <a:avLst/>
            </a:prstGeom>
            <a:noFill/>
            <a:ln cap="flat" cmpd="sng" w="9525">
              <a:solidFill>
                <a:schemeClr val="dk2"/>
              </a:solidFill>
              <a:prstDash val="solid"/>
              <a:round/>
              <a:headEnd len="sm" w="sm" type="none"/>
              <a:tailEnd len="med" w="med" type="triangle"/>
            </a:ln>
          </p:spPr>
        </p:cxnSp>
        <p:cxnSp>
          <p:nvCxnSpPr>
            <p:cNvPr id="179" name="Google Shape;179;p13"/>
            <p:cNvCxnSpPr>
              <a:stCxn id="174" idx="4"/>
              <a:endCxn id="176" idx="0"/>
            </p:cNvCxnSpPr>
            <p:nvPr/>
          </p:nvCxnSpPr>
          <p:spPr>
            <a:xfrm>
              <a:off x="6532850" y="1586625"/>
              <a:ext cx="35100" cy="612000"/>
            </a:xfrm>
            <a:prstGeom prst="straightConnector1">
              <a:avLst/>
            </a:prstGeom>
            <a:noFill/>
            <a:ln cap="flat" cmpd="sng" w="9525">
              <a:solidFill>
                <a:schemeClr val="dk2"/>
              </a:solidFill>
              <a:prstDash val="solid"/>
              <a:round/>
              <a:headEnd len="sm" w="sm" type="none"/>
              <a:tailEnd len="med" w="med" type="triangle"/>
            </a:ln>
          </p:spPr>
        </p:cxnSp>
      </p:grpSp>
      <p:pic>
        <p:nvPicPr>
          <p:cNvPr id="180" name="Google Shape;180;p13"/>
          <p:cNvPicPr preferRelativeResize="0"/>
          <p:nvPr/>
        </p:nvPicPr>
        <p:blipFill rotWithShape="1">
          <a:blip r:embed="rId3">
            <a:alphaModFix/>
          </a:blip>
          <a:srcRect b="0" l="0" r="0" t="0"/>
          <a:stretch/>
        </p:blipFill>
        <p:spPr>
          <a:xfrm>
            <a:off x="1588150" y="3577775"/>
            <a:ext cx="3733800" cy="1352550"/>
          </a:xfrm>
          <a:prstGeom prst="rect">
            <a:avLst/>
          </a:prstGeom>
          <a:noFill/>
          <a:ln>
            <a:noFill/>
          </a:ln>
        </p:spPr>
      </p:pic>
      <p:sp>
        <p:nvSpPr>
          <p:cNvPr id="181" name="Google Shape;181;p13"/>
          <p:cNvSpPr txBox="1"/>
          <p:nvPr/>
        </p:nvSpPr>
        <p:spPr>
          <a:xfrm>
            <a:off x="7444175" y="3602563"/>
            <a:ext cx="648000" cy="28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TC1</a:t>
            </a:r>
            <a:endParaRPr b="0" i="0" sz="1400" u="none" cap="none" strike="noStrike">
              <a:solidFill>
                <a:srgbClr val="000000"/>
              </a:solidFill>
              <a:latin typeface="Roboto"/>
              <a:ea typeface="Roboto"/>
              <a:cs typeface="Roboto"/>
              <a:sym typeface="Roboto"/>
            </a:endParaRPr>
          </a:p>
        </p:txBody>
      </p:sp>
      <p:sp>
        <p:nvSpPr>
          <p:cNvPr id="182" name="Google Shape;182;p13"/>
          <p:cNvSpPr txBox="1"/>
          <p:nvPr/>
        </p:nvSpPr>
        <p:spPr>
          <a:xfrm>
            <a:off x="5822338" y="3547400"/>
            <a:ext cx="648000" cy="28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TC2</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4"/>
          <p:cNvSpPr txBox="1"/>
          <p:nvPr>
            <p:ph idx="4294967295" type="body"/>
          </p:nvPr>
        </p:nvSpPr>
        <p:spPr>
          <a:xfrm>
            <a:off x="354875" y="922050"/>
            <a:ext cx="7737300" cy="3821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t>The coverage of all possible combinations of all single condition outcomes within one statement.</a:t>
            </a:r>
            <a:endParaRPr/>
          </a:p>
          <a:p>
            <a:pPr indent="-317500" lvl="1" marL="914400" rtl="0" algn="l">
              <a:lnSpc>
                <a:spcPct val="115000"/>
              </a:lnSpc>
              <a:spcBef>
                <a:spcPts val="0"/>
              </a:spcBef>
              <a:spcAft>
                <a:spcPts val="0"/>
              </a:spcAft>
              <a:buSzPts val="1400"/>
              <a:buChar char="-"/>
            </a:pPr>
            <a:r>
              <a:rPr lang="en-GB"/>
              <a:t>For example: in previous example, following four test cases will test all combinations</a:t>
            </a:r>
            <a:endParaRPr/>
          </a:p>
          <a:p>
            <a:pPr indent="-317500" lvl="2" marL="1371600" rtl="0" algn="l">
              <a:lnSpc>
                <a:spcPct val="115000"/>
              </a:lnSpc>
              <a:spcBef>
                <a:spcPts val="0"/>
              </a:spcBef>
              <a:spcAft>
                <a:spcPts val="0"/>
              </a:spcAft>
              <a:buSzPts val="1400"/>
              <a:buChar char="-"/>
            </a:pPr>
            <a:r>
              <a:rPr lang="en-GB"/>
              <a:t>TC1: x = 0, y = 6</a:t>
            </a:r>
            <a:endParaRPr/>
          </a:p>
          <a:p>
            <a:pPr indent="-317500" lvl="2" marL="1371600" rtl="0" algn="l">
              <a:lnSpc>
                <a:spcPct val="115000"/>
              </a:lnSpc>
              <a:spcBef>
                <a:spcPts val="0"/>
              </a:spcBef>
              <a:spcAft>
                <a:spcPts val="0"/>
              </a:spcAft>
              <a:buSzPts val="1400"/>
              <a:buChar char="-"/>
            </a:pPr>
            <a:r>
              <a:rPr lang="en-GB"/>
              <a:t>TC2: x = 0, y = -6</a:t>
            </a:r>
            <a:endParaRPr/>
          </a:p>
          <a:p>
            <a:pPr indent="-317500" lvl="2" marL="1371600" rtl="0" algn="l">
              <a:lnSpc>
                <a:spcPct val="115000"/>
              </a:lnSpc>
              <a:spcBef>
                <a:spcPts val="0"/>
              </a:spcBef>
              <a:spcAft>
                <a:spcPts val="0"/>
              </a:spcAft>
              <a:buSzPts val="1400"/>
              <a:buChar char="-"/>
            </a:pPr>
            <a:r>
              <a:rPr lang="en-GB"/>
              <a:t>TC3: x = 3, y = 6</a:t>
            </a:r>
            <a:endParaRPr/>
          </a:p>
          <a:p>
            <a:pPr indent="-317500" lvl="2" marL="1371600" rtl="0" algn="l">
              <a:lnSpc>
                <a:spcPct val="115000"/>
              </a:lnSpc>
              <a:spcBef>
                <a:spcPts val="0"/>
              </a:spcBef>
              <a:spcAft>
                <a:spcPts val="0"/>
              </a:spcAft>
              <a:buSzPts val="1400"/>
              <a:buChar char="-"/>
            </a:pPr>
            <a:r>
              <a:rPr lang="en-GB"/>
              <a:t>TC4: x = 3, y = -6</a:t>
            </a:r>
            <a:endParaRPr/>
          </a:p>
        </p:txBody>
      </p:sp>
      <p:sp>
        <p:nvSpPr>
          <p:cNvPr id="188" name="Google Shape;188;p14"/>
          <p:cNvSpPr txBox="1"/>
          <p:nvPr>
            <p:ph type="title"/>
          </p:nvPr>
        </p:nvSpPr>
        <p:spPr>
          <a:xfrm>
            <a:off x="98250" y="16350"/>
            <a:ext cx="8826600" cy="602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800"/>
              <a:buNone/>
            </a:pPr>
            <a:r>
              <a:rPr lang="en-GB"/>
              <a:t>Multiple Condition Coverage</a:t>
            </a:r>
            <a:endParaRPr/>
          </a:p>
        </p:txBody>
      </p:sp>
      <p:grpSp>
        <p:nvGrpSpPr>
          <p:cNvPr id="189" name="Google Shape;189;p14"/>
          <p:cNvGrpSpPr/>
          <p:nvPr/>
        </p:nvGrpSpPr>
        <p:grpSpPr>
          <a:xfrm>
            <a:off x="6329400" y="2924125"/>
            <a:ext cx="1062000" cy="1646375"/>
            <a:chOff x="6267350" y="1069425"/>
            <a:chExt cx="1062000" cy="1646375"/>
          </a:xfrm>
        </p:grpSpPr>
        <p:sp>
          <p:nvSpPr>
            <p:cNvPr id="190" name="Google Shape;190;p14"/>
            <p:cNvSpPr/>
            <p:nvPr/>
          </p:nvSpPr>
          <p:spPr>
            <a:xfrm>
              <a:off x="6267350" y="1069425"/>
              <a:ext cx="531000" cy="517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Roboto"/>
                  <a:ea typeface="Roboto"/>
                  <a:cs typeface="Roboto"/>
                  <a:sym typeface="Roboto"/>
                </a:rPr>
                <a:t>2</a:t>
              </a:r>
              <a:endParaRPr b="0" i="0" sz="1100" u="none" cap="none" strike="noStrike">
                <a:solidFill>
                  <a:srgbClr val="000000"/>
                </a:solidFill>
                <a:latin typeface="Roboto"/>
                <a:ea typeface="Roboto"/>
                <a:cs typeface="Roboto"/>
                <a:sym typeface="Roboto"/>
              </a:endParaRPr>
            </a:p>
          </p:txBody>
        </p:sp>
        <p:sp>
          <p:nvSpPr>
            <p:cNvPr id="191" name="Google Shape;191;p14"/>
            <p:cNvSpPr/>
            <p:nvPr/>
          </p:nvSpPr>
          <p:spPr>
            <a:xfrm>
              <a:off x="6798350" y="1606063"/>
              <a:ext cx="531000" cy="517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Roboto"/>
                  <a:ea typeface="Roboto"/>
                  <a:cs typeface="Roboto"/>
                  <a:sym typeface="Roboto"/>
                </a:rPr>
                <a:t>3</a:t>
              </a:r>
              <a:endParaRPr b="0" i="0" sz="1100" u="none" cap="none" strike="noStrike">
                <a:solidFill>
                  <a:srgbClr val="000000"/>
                </a:solidFill>
                <a:latin typeface="Roboto"/>
                <a:ea typeface="Roboto"/>
                <a:cs typeface="Roboto"/>
                <a:sym typeface="Roboto"/>
              </a:endParaRPr>
            </a:p>
          </p:txBody>
        </p:sp>
        <p:sp>
          <p:nvSpPr>
            <p:cNvPr id="192" name="Google Shape;192;p14"/>
            <p:cNvSpPr/>
            <p:nvPr/>
          </p:nvSpPr>
          <p:spPr>
            <a:xfrm>
              <a:off x="6302450" y="2198600"/>
              <a:ext cx="531000" cy="517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Roboto"/>
                  <a:ea typeface="Roboto"/>
                  <a:cs typeface="Roboto"/>
                  <a:sym typeface="Roboto"/>
                </a:rPr>
                <a:t>4</a:t>
              </a:r>
              <a:endParaRPr b="0" i="0" sz="1100" u="none" cap="none" strike="noStrike">
                <a:solidFill>
                  <a:srgbClr val="000000"/>
                </a:solidFill>
                <a:latin typeface="Roboto"/>
                <a:ea typeface="Roboto"/>
                <a:cs typeface="Roboto"/>
                <a:sym typeface="Roboto"/>
              </a:endParaRPr>
            </a:p>
          </p:txBody>
        </p:sp>
        <p:cxnSp>
          <p:nvCxnSpPr>
            <p:cNvPr id="193" name="Google Shape;193;p14"/>
            <p:cNvCxnSpPr>
              <a:stCxn id="190" idx="5"/>
              <a:endCxn id="191" idx="1"/>
            </p:cNvCxnSpPr>
            <p:nvPr/>
          </p:nvCxnSpPr>
          <p:spPr>
            <a:xfrm>
              <a:off x="6720587" y="1510883"/>
              <a:ext cx="155400" cy="171000"/>
            </a:xfrm>
            <a:prstGeom prst="straightConnector1">
              <a:avLst/>
            </a:prstGeom>
            <a:noFill/>
            <a:ln cap="flat" cmpd="sng" w="9525">
              <a:solidFill>
                <a:schemeClr val="dk2"/>
              </a:solidFill>
              <a:prstDash val="solid"/>
              <a:round/>
              <a:headEnd len="sm" w="sm" type="none"/>
              <a:tailEnd len="med" w="med" type="triangle"/>
            </a:ln>
          </p:spPr>
        </p:cxnSp>
        <p:cxnSp>
          <p:nvCxnSpPr>
            <p:cNvPr id="194" name="Google Shape;194;p14"/>
            <p:cNvCxnSpPr>
              <a:stCxn id="191" idx="3"/>
              <a:endCxn id="192" idx="7"/>
            </p:cNvCxnSpPr>
            <p:nvPr/>
          </p:nvCxnSpPr>
          <p:spPr>
            <a:xfrm flipH="1">
              <a:off x="6755813" y="2047521"/>
              <a:ext cx="120300" cy="226800"/>
            </a:xfrm>
            <a:prstGeom prst="straightConnector1">
              <a:avLst/>
            </a:prstGeom>
            <a:noFill/>
            <a:ln cap="flat" cmpd="sng" w="9525">
              <a:solidFill>
                <a:schemeClr val="dk2"/>
              </a:solidFill>
              <a:prstDash val="solid"/>
              <a:round/>
              <a:headEnd len="sm" w="sm" type="none"/>
              <a:tailEnd len="med" w="med" type="triangle"/>
            </a:ln>
          </p:spPr>
        </p:cxnSp>
        <p:cxnSp>
          <p:nvCxnSpPr>
            <p:cNvPr id="195" name="Google Shape;195;p14"/>
            <p:cNvCxnSpPr>
              <a:stCxn id="190" idx="4"/>
              <a:endCxn id="192" idx="0"/>
            </p:cNvCxnSpPr>
            <p:nvPr/>
          </p:nvCxnSpPr>
          <p:spPr>
            <a:xfrm>
              <a:off x="6532850" y="1586625"/>
              <a:ext cx="35100" cy="612000"/>
            </a:xfrm>
            <a:prstGeom prst="straightConnector1">
              <a:avLst/>
            </a:prstGeom>
            <a:noFill/>
            <a:ln cap="flat" cmpd="sng" w="9525">
              <a:solidFill>
                <a:schemeClr val="dk2"/>
              </a:solidFill>
              <a:prstDash val="solid"/>
              <a:round/>
              <a:headEnd len="sm" w="sm" type="none"/>
              <a:tailEnd len="med" w="med" type="triangle"/>
            </a:ln>
          </p:spPr>
        </p:cxnSp>
      </p:grpSp>
      <p:pic>
        <p:nvPicPr>
          <p:cNvPr id="196" name="Google Shape;196;p14"/>
          <p:cNvPicPr preferRelativeResize="0"/>
          <p:nvPr/>
        </p:nvPicPr>
        <p:blipFill rotWithShape="1">
          <a:blip r:embed="rId3">
            <a:alphaModFix/>
          </a:blip>
          <a:srcRect b="0" l="0" r="0" t="0"/>
          <a:stretch/>
        </p:blipFill>
        <p:spPr>
          <a:xfrm>
            <a:off x="1264075" y="3495050"/>
            <a:ext cx="3733800" cy="1352550"/>
          </a:xfrm>
          <a:prstGeom prst="rect">
            <a:avLst/>
          </a:prstGeom>
          <a:noFill/>
          <a:ln>
            <a:noFill/>
          </a:ln>
        </p:spPr>
      </p:pic>
      <p:sp>
        <p:nvSpPr>
          <p:cNvPr id="197" name="Google Shape;197;p14"/>
          <p:cNvSpPr txBox="1"/>
          <p:nvPr/>
        </p:nvSpPr>
        <p:spPr>
          <a:xfrm>
            <a:off x="7444175" y="3602563"/>
            <a:ext cx="648000" cy="28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TC1, TC2, TC3</a:t>
            </a:r>
            <a:endParaRPr b="0" i="0" sz="1400" u="none" cap="none" strike="noStrike">
              <a:solidFill>
                <a:srgbClr val="000000"/>
              </a:solidFill>
              <a:latin typeface="Roboto"/>
              <a:ea typeface="Roboto"/>
              <a:cs typeface="Roboto"/>
              <a:sym typeface="Roboto"/>
            </a:endParaRPr>
          </a:p>
        </p:txBody>
      </p:sp>
      <p:sp>
        <p:nvSpPr>
          <p:cNvPr id="198" name="Google Shape;198;p14"/>
          <p:cNvSpPr txBox="1"/>
          <p:nvPr/>
        </p:nvSpPr>
        <p:spPr>
          <a:xfrm>
            <a:off x="5822338" y="3547400"/>
            <a:ext cx="648000" cy="28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TC4</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5"/>
          <p:cNvSpPr txBox="1"/>
          <p:nvPr>
            <p:ph idx="4294967295" type="body"/>
          </p:nvPr>
        </p:nvSpPr>
        <p:spPr>
          <a:xfrm>
            <a:off x="354875" y="922050"/>
            <a:ext cx="7737300" cy="3821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t>Focuses on the validity of Loop constructs</a:t>
            </a:r>
            <a:endParaRPr/>
          </a:p>
          <a:p>
            <a:pPr indent="-317500" lvl="1" marL="914400" rtl="0" algn="l">
              <a:lnSpc>
                <a:spcPct val="115000"/>
              </a:lnSpc>
              <a:spcBef>
                <a:spcPts val="0"/>
              </a:spcBef>
              <a:spcAft>
                <a:spcPts val="0"/>
              </a:spcAft>
              <a:buSzPts val="1400"/>
              <a:buChar char="-"/>
            </a:pPr>
            <a:r>
              <a:rPr lang="en-GB"/>
              <a:t>Simple Loops</a:t>
            </a:r>
            <a:endParaRPr/>
          </a:p>
          <a:p>
            <a:pPr indent="-317500" lvl="1" marL="914400" rtl="0" algn="l">
              <a:lnSpc>
                <a:spcPct val="115000"/>
              </a:lnSpc>
              <a:spcBef>
                <a:spcPts val="0"/>
              </a:spcBef>
              <a:spcAft>
                <a:spcPts val="0"/>
              </a:spcAft>
              <a:buSzPts val="1400"/>
              <a:buChar char="-"/>
            </a:pPr>
            <a:r>
              <a:rPr lang="en-GB"/>
              <a:t>Concatenated Loops</a:t>
            </a:r>
            <a:endParaRPr/>
          </a:p>
          <a:p>
            <a:pPr indent="-317500" lvl="1" marL="914400" rtl="0" algn="l">
              <a:lnSpc>
                <a:spcPct val="115000"/>
              </a:lnSpc>
              <a:spcBef>
                <a:spcPts val="0"/>
              </a:spcBef>
              <a:spcAft>
                <a:spcPts val="0"/>
              </a:spcAft>
              <a:buSzPts val="1400"/>
              <a:buChar char="-"/>
            </a:pPr>
            <a:r>
              <a:rPr lang="en-GB"/>
              <a:t>Nested Loops</a:t>
            </a:r>
            <a:endParaRPr/>
          </a:p>
          <a:p>
            <a:pPr indent="-342900" lvl="0" marL="457200" rtl="0" algn="l">
              <a:lnSpc>
                <a:spcPct val="115000"/>
              </a:lnSpc>
              <a:spcBef>
                <a:spcPts val="0"/>
              </a:spcBef>
              <a:spcAft>
                <a:spcPts val="0"/>
              </a:spcAft>
              <a:buSzPts val="1800"/>
              <a:buChar char="-"/>
            </a:pPr>
            <a:r>
              <a:rPr lang="en-GB"/>
              <a:t>Following Tests case be applied to Loops</a:t>
            </a:r>
            <a:endParaRPr/>
          </a:p>
          <a:p>
            <a:pPr indent="-317500" lvl="1" marL="914400" rtl="0" algn="l">
              <a:lnSpc>
                <a:spcPct val="115000"/>
              </a:lnSpc>
              <a:spcBef>
                <a:spcPts val="0"/>
              </a:spcBef>
              <a:spcAft>
                <a:spcPts val="0"/>
              </a:spcAft>
              <a:buSzPts val="1400"/>
              <a:buChar char="-"/>
            </a:pPr>
            <a:r>
              <a:rPr lang="en-GB"/>
              <a:t>Skip the Loop Entirely</a:t>
            </a:r>
            <a:endParaRPr/>
          </a:p>
          <a:p>
            <a:pPr indent="-317500" lvl="1" marL="914400" rtl="0" algn="l">
              <a:lnSpc>
                <a:spcPct val="115000"/>
              </a:lnSpc>
              <a:spcBef>
                <a:spcPts val="0"/>
              </a:spcBef>
              <a:spcAft>
                <a:spcPts val="0"/>
              </a:spcAft>
              <a:buSzPts val="1400"/>
              <a:buChar char="-"/>
            </a:pPr>
            <a:r>
              <a:rPr lang="en-GB"/>
              <a:t>Only one pass through the loop</a:t>
            </a:r>
            <a:endParaRPr/>
          </a:p>
          <a:p>
            <a:pPr indent="-317500" lvl="1" marL="914400" rtl="0" algn="l">
              <a:lnSpc>
                <a:spcPct val="115000"/>
              </a:lnSpc>
              <a:spcBef>
                <a:spcPts val="0"/>
              </a:spcBef>
              <a:spcAft>
                <a:spcPts val="0"/>
              </a:spcAft>
              <a:buSzPts val="1400"/>
              <a:buChar char="-"/>
            </a:pPr>
            <a:r>
              <a:rPr lang="en-GB"/>
              <a:t>Multiple passes through the loop</a:t>
            </a:r>
            <a:endParaRPr/>
          </a:p>
        </p:txBody>
      </p:sp>
      <p:sp>
        <p:nvSpPr>
          <p:cNvPr id="204" name="Google Shape;204;p15"/>
          <p:cNvSpPr txBox="1"/>
          <p:nvPr>
            <p:ph type="title"/>
          </p:nvPr>
        </p:nvSpPr>
        <p:spPr>
          <a:xfrm>
            <a:off x="98250" y="16350"/>
            <a:ext cx="8826600" cy="602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800"/>
              <a:buNone/>
            </a:pPr>
            <a:r>
              <a:rPr lang="en-GB"/>
              <a:t>Loop Coverages</a:t>
            </a:r>
            <a:endParaRPr sz="1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8"/>
          <p:cNvSpPr txBox="1"/>
          <p:nvPr>
            <p:ph idx="4294967295" type="body"/>
          </p:nvPr>
        </p:nvSpPr>
        <p:spPr>
          <a:xfrm>
            <a:off x="354875" y="922050"/>
            <a:ext cx="7737300" cy="3821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t>A white-box test design technique in which test cases are designed to execute paths.</a:t>
            </a:r>
            <a:endParaRPr/>
          </a:p>
          <a:p>
            <a:pPr indent="-342900" lvl="0" marL="457200" rtl="0" algn="l">
              <a:lnSpc>
                <a:spcPct val="115000"/>
              </a:lnSpc>
              <a:spcBef>
                <a:spcPts val="0"/>
              </a:spcBef>
              <a:spcAft>
                <a:spcPts val="0"/>
              </a:spcAft>
              <a:buSzPts val="1800"/>
              <a:buChar char="-"/>
            </a:pPr>
            <a:r>
              <a:rPr lang="en-GB"/>
              <a:t>In path testing Rather than concentrating merely on control flows, path testing is going to try to identify interesting paths through the code that we may want to test.</a:t>
            </a:r>
            <a:endParaRPr/>
          </a:p>
          <a:p>
            <a:pPr indent="-342900" lvl="0" marL="457200" rtl="0" algn="l">
              <a:lnSpc>
                <a:spcPct val="115000"/>
              </a:lnSpc>
              <a:spcBef>
                <a:spcPts val="0"/>
              </a:spcBef>
              <a:spcAft>
                <a:spcPts val="0"/>
              </a:spcAft>
              <a:buSzPts val="1800"/>
              <a:buChar char="-"/>
            </a:pPr>
            <a:r>
              <a:rPr lang="en-GB"/>
              <a:t>General Rules</a:t>
            </a:r>
            <a:endParaRPr/>
          </a:p>
          <a:p>
            <a:pPr indent="-317500" lvl="1" marL="914400" rtl="0" algn="l">
              <a:lnSpc>
                <a:spcPct val="115000"/>
              </a:lnSpc>
              <a:spcBef>
                <a:spcPts val="0"/>
              </a:spcBef>
              <a:spcAft>
                <a:spcPts val="0"/>
              </a:spcAft>
              <a:buSzPts val="1400"/>
              <a:buChar char="-"/>
            </a:pPr>
            <a:r>
              <a:rPr lang="en-GB"/>
              <a:t>Many simple paths are better that fewer complicated paths.</a:t>
            </a:r>
            <a:endParaRPr/>
          </a:p>
          <a:p>
            <a:pPr indent="-317500" lvl="1" marL="914400" rtl="0" algn="l">
              <a:lnSpc>
                <a:spcPct val="115000"/>
              </a:lnSpc>
              <a:spcBef>
                <a:spcPts val="0"/>
              </a:spcBef>
              <a:spcAft>
                <a:spcPts val="0"/>
              </a:spcAft>
              <a:buSzPts val="1400"/>
              <a:buChar char="-"/>
            </a:pPr>
            <a:r>
              <a:rPr lang="en-GB"/>
              <a:t>There is no conceptual problem executing the same code more than once.</a:t>
            </a:r>
            <a:endParaRPr/>
          </a:p>
        </p:txBody>
      </p:sp>
      <p:sp>
        <p:nvSpPr>
          <p:cNvPr id="210" name="Google Shape;210;p18"/>
          <p:cNvSpPr txBox="1"/>
          <p:nvPr>
            <p:ph type="title"/>
          </p:nvPr>
        </p:nvSpPr>
        <p:spPr>
          <a:xfrm>
            <a:off x="98250" y="16350"/>
            <a:ext cx="8826600" cy="602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800"/>
              <a:buNone/>
            </a:pPr>
            <a:r>
              <a:rPr lang="en-GB"/>
              <a:t>Basis Path Testing</a:t>
            </a:r>
            <a:endParaRPr sz="12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9"/>
          <p:cNvSpPr txBox="1"/>
          <p:nvPr>
            <p:ph idx="4294967295" type="body"/>
          </p:nvPr>
        </p:nvSpPr>
        <p:spPr>
          <a:xfrm>
            <a:off x="354875" y="922050"/>
            <a:ext cx="7737300" cy="3821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t>Steps towards writing test cases using Basis Path</a:t>
            </a:r>
            <a:endParaRPr/>
          </a:p>
          <a:p>
            <a:pPr indent="-317500" lvl="1" marL="914400" rtl="0" algn="l">
              <a:lnSpc>
                <a:spcPct val="115000"/>
              </a:lnSpc>
              <a:spcBef>
                <a:spcPts val="0"/>
              </a:spcBef>
              <a:spcAft>
                <a:spcPts val="0"/>
              </a:spcAft>
              <a:buSzPts val="1400"/>
              <a:buChar char="-"/>
            </a:pPr>
            <a:r>
              <a:rPr lang="en-GB"/>
              <a:t>Draw a control flow graph for Basis Path</a:t>
            </a:r>
            <a:endParaRPr/>
          </a:p>
          <a:p>
            <a:pPr indent="-317500" lvl="1" marL="914400" rtl="0" algn="l">
              <a:lnSpc>
                <a:spcPct val="115000"/>
              </a:lnSpc>
              <a:spcBef>
                <a:spcPts val="0"/>
              </a:spcBef>
              <a:spcAft>
                <a:spcPts val="0"/>
              </a:spcAft>
              <a:buSzPts val="1400"/>
              <a:buChar char="-"/>
            </a:pPr>
            <a:r>
              <a:rPr lang="en-GB"/>
              <a:t>Determine Cyclomatic Complexity</a:t>
            </a:r>
            <a:endParaRPr/>
          </a:p>
          <a:p>
            <a:pPr indent="-317500" lvl="1" marL="914400" rtl="0" algn="l">
              <a:lnSpc>
                <a:spcPct val="115000"/>
              </a:lnSpc>
              <a:spcBef>
                <a:spcPts val="0"/>
              </a:spcBef>
              <a:spcAft>
                <a:spcPts val="0"/>
              </a:spcAft>
              <a:buSzPts val="1400"/>
              <a:buChar char="-"/>
            </a:pPr>
            <a:r>
              <a:rPr lang="en-GB"/>
              <a:t>Determine basis set of linearly independent Paths</a:t>
            </a:r>
            <a:endParaRPr/>
          </a:p>
          <a:p>
            <a:pPr indent="-317500" lvl="2" marL="1371600" rtl="0" algn="l">
              <a:lnSpc>
                <a:spcPct val="115000"/>
              </a:lnSpc>
              <a:spcBef>
                <a:spcPts val="0"/>
              </a:spcBef>
              <a:spcAft>
                <a:spcPts val="0"/>
              </a:spcAft>
              <a:buSzPts val="1400"/>
              <a:buChar char="-"/>
            </a:pPr>
            <a:r>
              <a:rPr lang="en-GB"/>
              <a:t>Guidelines mentioned in next slide</a:t>
            </a:r>
            <a:endParaRPr/>
          </a:p>
          <a:p>
            <a:pPr indent="-317500" lvl="1" marL="914400" rtl="0" algn="l">
              <a:lnSpc>
                <a:spcPct val="115000"/>
              </a:lnSpc>
              <a:spcBef>
                <a:spcPts val="0"/>
              </a:spcBef>
              <a:spcAft>
                <a:spcPts val="0"/>
              </a:spcAft>
              <a:buSzPts val="1400"/>
              <a:buChar char="-"/>
            </a:pPr>
            <a:r>
              <a:rPr lang="en-GB"/>
              <a:t>Prepare test cases that will force execution of each path in the basis set</a:t>
            </a:r>
            <a:endParaRPr/>
          </a:p>
          <a:p>
            <a:pPr indent="-317500" lvl="1" marL="914400" rtl="0" algn="l">
              <a:lnSpc>
                <a:spcPct val="115000"/>
              </a:lnSpc>
              <a:spcBef>
                <a:spcPts val="0"/>
              </a:spcBef>
              <a:spcAft>
                <a:spcPts val="0"/>
              </a:spcAft>
              <a:buSzPts val="1400"/>
              <a:buChar char="-"/>
            </a:pPr>
            <a:r>
              <a:rPr lang="en-GB"/>
              <a:t>Run the test cases and check their results</a:t>
            </a:r>
            <a:endParaRPr/>
          </a:p>
        </p:txBody>
      </p:sp>
      <p:sp>
        <p:nvSpPr>
          <p:cNvPr id="216" name="Google Shape;216;p19"/>
          <p:cNvSpPr txBox="1"/>
          <p:nvPr>
            <p:ph type="title"/>
          </p:nvPr>
        </p:nvSpPr>
        <p:spPr>
          <a:xfrm>
            <a:off x="98250" y="16350"/>
            <a:ext cx="8826600" cy="602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800"/>
              <a:buNone/>
            </a:pPr>
            <a:r>
              <a:rPr lang="en-GB"/>
              <a:t>Basis Path Testing</a:t>
            </a: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0"/>
          <p:cNvSpPr txBox="1"/>
          <p:nvPr>
            <p:ph type="title"/>
          </p:nvPr>
        </p:nvSpPr>
        <p:spPr>
          <a:xfrm>
            <a:off x="226078" y="357800"/>
            <a:ext cx="2808000" cy="9534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2400"/>
              <a:buNone/>
            </a:pPr>
            <a:r>
              <a:rPr lang="en-GB"/>
              <a:t>Basis Path Testing</a:t>
            </a:r>
            <a:endParaRPr sz="1200"/>
          </a:p>
        </p:txBody>
      </p:sp>
      <p:grpSp>
        <p:nvGrpSpPr>
          <p:cNvPr id="222" name="Google Shape;222;p20"/>
          <p:cNvGrpSpPr/>
          <p:nvPr/>
        </p:nvGrpSpPr>
        <p:grpSpPr>
          <a:xfrm>
            <a:off x="3910226" y="179184"/>
            <a:ext cx="4959504" cy="4514577"/>
            <a:chOff x="5055775" y="1147650"/>
            <a:chExt cx="3562350" cy="3242765"/>
          </a:xfrm>
        </p:grpSpPr>
        <p:pic>
          <p:nvPicPr>
            <p:cNvPr id="223" name="Google Shape;223;p20"/>
            <p:cNvPicPr preferRelativeResize="0"/>
            <p:nvPr/>
          </p:nvPicPr>
          <p:blipFill rotWithShape="1">
            <a:blip r:embed="rId3">
              <a:alphaModFix/>
            </a:blip>
            <a:srcRect b="0" l="0" r="0" t="0"/>
            <a:stretch/>
          </p:blipFill>
          <p:spPr>
            <a:xfrm>
              <a:off x="5131975" y="3771290"/>
              <a:ext cx="2876550" cy="619125"/>
            </a:xfrm>
            <a:prstGeom prst="rect">
              <a:avLst/>
            </a:prstGeom>
            <a:noFill/>
            <a:ln>
              <a:noFill/>
            </a:ln>
          </p:spPr>
        </p:pic>
        <p:pic>
          <p:nvPicPr>
            <p:cNvPr id="224" name="Google Shape;224;p20"/>
            <p:cNvPicPr preferRelativeResize="0"/>
            <p:nvPr/>
          </p:nvPicPr>
          <p:blipFill rotWithShape="1">
            <a:blip r:embed="rId4">
              <a:alphaModFix/>
            </a:blip>
            <a:srcRect b="7510" l="0" r="0" t="0"/>
            <a:stretch/>
          </p:blipFill>
          <p:spPr>
            <a:xfrm>
              <a:off x="5055775" y="1147650"/>
              <a:ext cx="3562350" cy="2704603"/>
            </a:xfrm>
            <a:prstGeom prst="rect">
              <a:avLst/>
            </a:prstGeom>
            <a:noFill/>
            <a:ln>
              <a:noFill/>
            </a:ln>
          </p:spPr>
        </p:pic>
      </p:grpSp>
      <p:sp>
        <p:nvSpPr>
          <p:cNvPr id="225" name="Google Shape;225;p20"/>
          <p:cNvSpPr txBox="1"/>
          <p:nvPr>
            <p:ph idx="1" type="body"/>
          </p:nvPr>
        </p:nvSpPr>
        <p:spPr>
          <a:xfrm>
            <a:off x="226075" y="1465800"/>
            <a:ext cx="2808000" cy="3163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200"/>
              <a:buNone/>
            </a:pPr>
            <a:r>
              <a:rPr lang="en-GB"/>
              <a:t>Identify test cases using Basis Path testing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1"/>
          <p:cNvSpPr txBox="1"/>
          <p:nvPr>
            <p:ph type="title"/>
          </p:nvPr>
        </p:nvSpPr>
        <p:spPr>
          <a:xfrm>
            <a:off x="226078" y="357800"/>
            <a:ext cx="2808000" cy="9534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2400"/>
              <a:buNone/>
            </a:pPr>
            <a:r>
              <a:rPr lang="en-GB"/>
              <a:t>Identify Paths</a:t>
            </a:r>
            <a:endParaRPr/>
          </a:p>
        </p:txBody>
      </p:sp>
      <p:sp>
        <p:nvSpPr>
          <p:cNvPr id="231" name="Google Shape;231;p21"/>
          <p:cNvSpPr txBox="1"/>
          <p:nvPr>
            <p:ph idx="1" type="body"/>
          </p:nvPr>
        </p:nvSpPr>
        <p:spPr>
          <a:xfrm>
            <a:off x="226075" y="1465800"/>
            <a:ext cx="2808000" cy="3163500"/>
          </a:xfrm>
          <a:prstGeom prst="rect">
            <a:avLst/>
          </a:prstGeom>
          <a:noFill/>
          <a:ln>
            <a:noFill/>
          </a:ln>
        </p:spPr>
        <p:txBody>
          <a:bodyPr anchorCtr="0" anchor="t" bIns="91425" lIns="91425" spcFirstLastPara="1" rIns="91425" wrap="square" tIns="91425">
            <a:normAutofit/>
          </a:bodyPr>
          <a:lstStyle/>
          <a:p>
            <a:pPr indent="-228600" lvl="0" marL="457200" rtl="0" algn="l">
              <a:lnSpc>
                <a:spcPct val="115000"/>
              </a:lnSpc>
              <a:spcBef>
                <a:spcPts val="0"/>
              </a:spcBef>
              <a:spcAft>
                <a:spcPts val="0"/>
              </a:spcAft>
              <a:buClr>
                <a:schemeClr val="lt1"/>
              </a:buClr>
              <a:buSzPts val="1200"/>
              <a:buNone/>
            </a:pPr>
            <a:r>
              <a:t/>
            </a:r>
            <a:endParaRPr/>
          </a:p>
        </p:txBody>
      </p:sp>
      <p:pic>
        <p:nvPicPr>
          <p:cNvPr id="232" name="Google Shape;232;p21"/>
          <p:cNvPicPr preferRelativeResize="0"/>
          <p:nvPr/>
        </p:nvPicPr>
        <p:blipFill rotWithShape="1">
          <a:blip r:embed="rId3">
            <a:alphaModFix/>
          </a:blip>
          <a:srcRect b="0" l="0" r="0" t="0"/>
          <a:stretch/>
        </p:blipFill>
        <p:spPr>
          <a:xfrm>
            <a:off x="5319174" y="357800"/>
            <a:ext cx="2200350" cy="45840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2"/>
          <p:cNvSpPr txBox="1"/>
          <p:nvPr>
            <p:ph type="title"/>
          </p:nvPr>
        </p:nvSpPr>
        <p:spPr>
          <a:xfrm>
            <a:off x="226078" y="357800"/>
            <a:ext cx="2808000" cy="9534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2400"/>
              <a:buNone/>
            </a:pPr>
            <a:r>
              <a:rPr lang="en-GB"/>
              <a:t>Basis Path Testing</a:t>
            </a:r>
            <a:endParaRPr sz="1200"/>
          </a:p>
        </p:txBody>
      </p:sp>
      <p:grpSp>
        <p:nvGrpSpPr>
          <p:cNvPr id="238" name="Google Shape;238;p22"/>
          <p:cNvGrpSpPr/>
          <p:nvPr/>
        </p:nvGrpSpPr>
        <p:grpSpPr>
          <a:xfrm>
            <a:off x="3407065" y="950367"/>
            <a:ext cx="3562350" cy="3242765"/>
            <a:chOff x="5055775" y="1147650"/>
            <a:chExt cx="3562350" cy="3242765"/>
          </a:xfrm>
        </p:grpSpPr>
        <p:pic>
          <p:nvPicPr>
            <p:cNvPr id="239" name="Google Shape;239;p22"/>
            <p:cNvPicPr preferRelativeResize="0"/>
            <p:nvPr/>
          </p:nvPicPr>
          <p:blipFill rotWithShape="1">
            <a:blip r:embed="rId3">
              <a:alphaModFix/>
            </a:blip>
            <a:srcRect b="0" l="0" r="0" t="0"/>
            <a:stretch/>
          </p:blipFill>
          <p:spPr>
            <a:xfrm>
              <a:off x="5131975" y="3771290"/>
              <a:ext cx="2876550" cy="619125"/>
            </a:xfrm>
            <a:prstGeom prst="rect">
              <a:avLst/>
            </a:prstGeom>
            <a:noFill/>
            <a:ln>
              <a:noFill/>
            </a:ln>
          </p:spPr>
        </p:pic>
        <p:pic>
          <p:nvPicPr>
            <p:cNvPr id="240" name="Google Shape;240;p22"/>
            <p:cNvPicPr preferRelativeResize="0"/>
            <p:nvPr/>
          </p:nvPicPr>
          <p:blipFill rotWithShape="1">
            <a:blip r:embed="rId4">
              <a:alphaModFix/>
            </a:blip>
            <a:srcRect b="7510" l="0" r="0" t="0"/>
            <a:stretch/>
          </p:blipFill>
          <p:spPr>
            <a:xfrm>
              <a:off x="5055775" y="1147650"/>
              <a:ext cx="3562350" cy="2704603"/>
            </a:xfrm>
            <a:prstGeom prst="rect">
              <a:avLst/>
            </a:prstGeom>
            <a:noFill/>
            <a:ln>
              <a:noFill/>
            </a:ln>
          </p:spPr>
        </p:pic>
      </p:grpSp>
      <p:sp>
        <p:nvSpPr>
          <p:cNvPr id="241" name="Google Shape;241;p22"/>
          <p:cNvSpPr txBox="1"/>
          <p:nvPr>
            <p:ph idx="1" type="body"/>
          </p:nvPr>
        </p:nvSpPr>
        <p:spPr>
          <a:xfrm>
            <a:off x="226075" y="1465800"/>
            <a:ext cx="2843400" cy="202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200"/>
              <a:buNone/>
            </a:pPr>
            <a:r>
              <a:rPr lang="en-GB"/>
              <a:t>Identify test cases using Basis Path testing</a:t>
            </a:r>
            <a:endParaRPr/>
          </a:p>
          <a:p>
            <a:pPr indent="-304800" lvl="0" marL="457200" rtl="0" algn="l">
              <a:lnSpc>
                <a:spcPct val="115000"/>
              </a:lnSpc>
              <a:spcBef>
                <a:spcPts val="1200"/>
              </a:spcBef>
              <a:spcAft>
                <a:spcPts val="0"/>
              </a:spcAft>
              <a:buSzPts val="1200"/>
              <a:buChar char="-"/>
            </a:pPr>
            <a:r>
              <a:rPr lang="en-GB"/>
              <a:t>Cyclomatic Complexity = 4</a:t>
            </a:r>
            <a:endParaRPr/>
          </a:p>
          <a:p>
            <a:pPr indent="-304800" lvl="0" marL="457200" rtl="0" algn="l">
              <a:lnSpc>
                <a:spcPct val="115000"/>
              </a:lnSpc>
              <a:spcBef>
                <a:spcPts val="0"/>
              </a:spcBef>
              <a:spcAft>
                <a:spcPts val="0"/>
              </a:spcAft>
              <a:buSzPts val="1200"/>
              <a:buChar char="-"/>
            </a:pPr>
            <a:r>
              <a:rPr lang="en-GB"/>
              <a:t>Basis Path</a:t>
            </a:r>
            <a:endParaRPr/>
          </a:p>
          <a:p>
            <a:pPr indent="-304800" lvl="1" marL="914400" rtl="0" algn="l">
              <a:lnSpc>
                <a:spcPct val="115000"/>
              </a:lnSpc>
              <a:spcBef>
                <a:spcPts val="0"/>
              </a:spcBef>
              <a:spcAft>
                <a:spcPts val="0"/>
              </a:spcAft>
              <a:buSzPts val="1200"/>
              <a:buChar char="-"/>
            </a:pPr>
            <a:r>
              <a:rPr lang="en-GB"/>
              <a:t>A-B-F-H</a:t>
            </a:r>
            <a:endParaRPr/>
          </a:p>
          <a:p>
            <a:pPr indent="-304800" lvl="1" marL="914400" rtl="0" algn="l">
              <a:lnSpc>
                <a:spcPct val="115000"/>
              </a:lnSpc>
              <a:spcBef>
                <a:spcPts val="0"/>
              </a:spcBef>
              <a:spcAft>
                <a:spcPts val="0"/>
              </a:spcAft>
              <a:buSzPts val="1200"/>
              <a:buChar char="-"/>
            </a:pPr>
            <a:r>
              <a:rPr lang="en-GB"/>
              <a:t>A-B-F-G-H</a:t>
            </a:r>
            <a:endParaRPr/>
          </a:p>
          <a:p>
            <a:pPr indent="-304800" lvl="1" marL="914400" rtl="0" algn="l">
              <a:lnSpc>
                <a:spcPct val="115000"/>
              </a:lnSpc>
              <a:spcBef>
                <a:spcPts val="0"/>
              </a:spcBef>
              <a:spcAft>
                <a:spcPts val="0"/>
              </a:spcAft>
              <a:buSzPts val="1200"/>
              <a:buChar char="-"/>
            </a:pPr>
            <a:r>
              <a:rPr lang="en-GB"/>
              <a:t>A-B-C-D-F-H</a:t>
            </a:r>
            <a:endParaRPr/>
          </a:p>
          <a:p>
            <a:pPr indent="-304800" lvl="1" marL="914400" rtl="0" algn="l">
              <a:lnSpc>
                <a:spcPct val="115000"/>
              </a:lnSpc>
              <a:spcBef>
                <a:spcPts val="0"/>
              </a:spcBef>
              <a:spcAft>
                <a:spcPts val="0"/>
              </a:spcAft>
              <a:buSzPts val="1200"/>
              <a:buChar char="-"/>
            </a:pPr>
            <a:r>
              <a:rPr lang="en-GB"/>
              <a:t>A-B-C-E-B-F-G-H</a:t>
            </a:r>
            <a:endParaRPr/>
          </a:p>
        </p:txBody>
      </p:sp>
      <p:pic>
        <p:nvPicPr>
          <p:cNvPr id="242" name="Google Shape;242;p22"/>
          <p:cNvPicPr preferRelativeResize="0"/>
          <p:nvPr/>
        </p:nvPicPr>
        <p:blipFill rotWithShape="1">
          <a:blip r:embed="rId5">
            <a:alphaModFix/>
          </a:blip>
          <a:srcRect b="0" l="0" r="0" t="0"/>
          <a:stretch/>
        </p:blipFill>
        <p:spPr>
          <a:xfrm>
            <a:off x="6761399" y="201726"/>
            <a:ext cx="2200350" cy="4584051"/>
          </a:xfrm>
          <a:prstGeom prst="rect">
            <a:avLst/>
          </a:prstGeom>
          <a:noFill/>
          <a:ln>
            <a:noFill/>
          </a:ln>
        </p:spPr>
      </p:pic>
      <p:pic>
        <p:nvPicPr>
          <p:cNvPr id="243" name="Google Shape;243;p22"/>
          <p:cNvPicPr preferRelativeResize="0"/>
          <p:nvPr/>
        </p:nvPicPr>
        <p:blipFill rotWithShape="1">
          <a:blip r:embed="rId6">
            <a:alphaModFix/>
          </a:blip>
          <a:srcRect b="0" l="0" r="0" t="0"/>
          <a:stretch/>
        </p:blipFill>
        <p:spPr>
          <a:xfrm>
            <a:off x="18050" y="3743100"/>
            <a:ext cx="3224044" cy="1071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6"/>
          <p:cNvSpPr txBox="1"/>
          <p:nvPr>
            <p:ph idx="4294967295" type="body"/>
          </p:nvPr>
        </p:nvSpPr>
        <p:spPr>
          <a:xfrm>
            <a:off x="354875" y="922050"/>
            <a:ext cx="7737300" cy="38217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t>Cyclomatic Complexity in Software Testing is a testing metric used for measuring the complexity of a software program.</a:t>
            </a:r>
            <a:endParaRPr/>
          </a:p>
          <a:p>
            <a:pPr indent="-342900" lvl="0" marL="457200" rtl="0" algn="l">
              <a:lnSpc>
                <a:spcPct val="115000"/>
              </a:lnSpc>
              <a:spcBef>
                <a:spcPts val="0"/>
              </a:spcBef>
              <a:spcAft>
                <a:spcPts val="0"/>
              </a:spcAft>
              <a:buSzPts val="1800"/>
              <a:buChar char="-"/>
            </a:pPr>
            <a:r>
              <a:rPr lang="en-GB"/>
              <a:t>It is a quantitative measure of independent paths in the source code of a software program.</a:t>
            </a:r>
            <a:endParaRPr/>
          </a:p>
          <a:p>
            <a:pPr indent="-342900" lvl="0" marL="457200" rtl="0" algn="l">
              <a:lnSpc>
                <a:spcPct val="115000"/>
              </a:lnSpc>
              <a:spcBef>
                <a:spcPts val="0"/>
              </a:spcBef>
              <a:spcAft>
                <a:spcPts val="0"/>
              </a:spcAft>
              <a:buSzPts val="1800"/>
              <a:buChar char="-"/>
            </a:pPr>
            <a:r>
              <a:rPr lang="en-GB"/>
              <a:t>Developed by Thomas McCabe (1976), it’s widely used in software engineering to identify risky code.</a:t>
            </a:r>
            <a:endParaRPr/>
          </a:p>
          <a:p>
            <a:pPr indent="-342900" lvl="0" marL="457200" rtl="0" algn="l">
              <a:lnSpc>
                <a:spcPct val="115000"/>
              </a:lnSpc>
              <a:spcBef>
                <a:spcPts val="0"/>
              </a:spcBef>
              <a:spcAft>
                <a:spcPts val="0"/>
              </a:spcAft>
              <a:buSzPts val="1800"/>
              <a:buChar char="-"/>
            </a:pPr>
            <a:r>
              <a:rPr lang="en-GB"/>
              <a:t>Three ways to Compute</a:t>
            </a:r>
            <a:endParaRPr/>
          </a:p>
          <a:p>
            <a:pPr indent="-317500" lvl="1" marL="914400" rtl="0" algn="l">
              <a:lnSpc>
                <a:spcPct val="115000"/>
              </a:lnSpc>
              <a:spcBef>
                <a:spcPts val="0"/>
              </a:spcBef>
              <a:spcAft>
                <a:spcPts val="0"/>
              </a:spcAft>
              <a:buSzPts val="1400"/>
              <a:buChar char="-"/>
            </a:pPr>
            <a:r>
              <a:rPr lang="en-GB"/>
              <a:t>V(G) = E - N + 2P</a:t>
            </a:r>
            <a:endParaRPr/>
          </a:p>
          <a:p>
            <a:pPr indent="-317500" lvl="2" marL="1371600" rtl="0" algn="l">
              <a:lnSpc>
                <a:spcPct val="115000"/>
              </a:lnSpc>
              <a:spcBef>
                <a:spcPts val="0"/>
              </a:spcBef>
              <a:spcAft>
                <a:spcPts val="0"/>
              </a:spcAft>
              <a:buSzPts val="1400"/>
              <a:buChar char="-"/>
            </a:pPr>
            <a:r>
              <a:rPr lang="en-GB"/>
              <a:t>E is the number of edges in Control Flow Graph</a:t>
            </a:r>
            <a:endParaRPr/>
          </a:p>
          <a:p>
            <a:pPr indent="-317500" lvl="2" marL="1371600" rtl="0" algn="l">
              <a:lnSpc>
                <a:spcPct val="115000"/>
              </a:lnSpc>
              <a:spcBef>
                <a:spcPts val="0"/>
              </a:spcBef>
              <a:spcAft>
                <a:spcPts val="0"/>
              </a:spcAft>
              <a:buSzPts val="1400"/>
              <a:buChar char="-"/>
            </a:pPr>
            <a:r>
              <a:rPr lang="en-GB"/>
              <a:t>N is the number of nodes in the control flow graph</a:t>
            </a:r>
            <a:endParaRPr/>
          </a:p>
          <a:p>
            <a:pPr indent="-317500" lvl="1" marL="914400" rtl="0" algn="l">
              <a:lnSpc>
                <a:spcPct val="115000"/>
              </a:lnSpc>
              <a:spcBef>
                <a:spcPts val="0"/>
              </a:spcBef>
              <a:spcAft>
                <a:spcPts val="0"/>
              </a:spcAft>
              <a:buSzPts val="1400"/>
              <a:buChar char="-"/>
            </a:pPr>
            <a:r>
              <a:rPr lang="en-GB"/>
              <a:t>V(G) = P + 1</a:t>
            </a:r>
            <a:endParaRPr/>
          </a:p>
          <a:p>
            <a:pPr indent="-317500" lvl="2" marL="1371600" rtl="0" algn="l">
              <a:lnSpc>
                <a:spcPct val="115000"/>
              </a:lnSpc>
              <a:spcBef>
                <a:spcPts val="0"/>
              </a:spcBef>
              <a:spcAft>
                <a:spcPts val="0"/>
              </a:spcAft>
              <a:buSzPts val="1400"/>
              <a:buChar char="-"/>
            </a:pPr>
            <a:r>
              <a:rPr lang="en-GB"/>
              <a:t>P is the number of predicates nodes in control flow graph</a:t>
            </a:r>
            <a:endParaRPr/>
          </a:p>
          <a:p>
            <a:pPr indent="-317500" lvl="1" marL="914400" rtl="0" algn="l">
              <a:lnSpc>
                <a:spcPct val="115000"/>
              </a:lnSpc>
              <a:spcBef>
                <a:spcPts val="0"/>
              </a:spcBef>
              <a:spcAft>
                <a:spcPts val="0"/>
              </a:spcAft>
              <a:buSzPts val="1400"/>
              <a:buChar char="-"/>
            </a:pPr>
            <a:r>
              <a:rPr lang="en-GB"/>
              <a:t>V(G) = Number of In-bound Regions(R) + 1</a:t>
            </a:r>
            <a:endParaRPr/>
          </a:p>
        </p:txBody>
      </p:sp>
      <p:sp>
        <p:nvSpPr>
          <p:cNvPr id="249" name="Google Shape;249;p16"/>
          <p:cNvSpPr txBox="1"/>
          <p:nvPr>
            <p:ph type="title"/>
          </p:nvPr>
        </p:nvSpPr>
        <p:spPr>
          <a:xfrm>
            <a:off x="98250" y="16350"/>
            <a:ext cx="8826600" cy="602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800"/>
              <a:buNone/>
            </a:pPr>
            <a:r>
              <a:rPr lang="en-GB"/>
              <a:t>Cyclomatic Complexity</a:t>
            </a:r>
            <a:endParaRPr sz="12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7"/>
          <p:cNvSpPr txBox="1"/>
          <p:nvPr>
            <p:ph type="title"/>
          </p:nvPr>
        </p:nvSpPr>
        <p:spPr>
          <a:xfrm>
            <a:off x="226078" y="357800"/>
            <a:ext cx="2808000" cy="9534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2400"/>
              <a:buNone/>
            </a:pPr>
            <a:r>
              <a:rPr lang="en-GB"/>
              <a:t>Cyclomatic Complexity</a:t>
            </a:r>
            <a:endParaRPr sz="1200"/>
          </a:p>
        </p:txBody>
      </p:sp>
      <p:sp>
        <p:nvSpPr>
          <p:cNvPr id="255" name="Google Shape;255;p17"/>
          <p:cNvSpPr txBox="1"/>
          <p:nvPr>
            <p:ph idx="1" type="body"/>
          </p:nvPr>
        </p:nvSpPr>
        <p:spPr>
          <a:xfrm>
            <a:off x="226075" y="1465800"/>
            <a:ext cx="3022200" cy="3163500"/>
          </a:xfrm>
          <a:prstGeom prst="rect">
            <a:avLst/>
          </a:prstGeom>
          <a:noFill/>
          <a:ln>
            <a:noFill/>
          </a:ln>
        </p:spPr>
        <p:txBody>
          <a:bodyPr anchorCtr="0" anchor="t" bIns="91425" lIns="91425" spcFirstLastPara="1" rIns="91425" wrap="square" tIns="91425">
            <a:normAutofit/>
          </a:bodyPr>
          <a:lstStyle/>
          <a:p>
            <a:pPr indent="-304800" lvl="0" marL="457200" rtl="0" algn="l">
              <a:lnSpc>
                <a:spcPct val="115000"/>
              </a:lnSpc>
              <a:spcBef>
                <a:spcPts val="0"/>
              </a:spcBef>
              <a:spcAft>
                <a:spcPts val="0"/>
              </a:spcAft>
              <a:buSzPts val="1200"/>
              <a:buChar char="-"/>
            </a:pPr>
            <a:r>
              <a:rPr lang="en-GB"/>
              <a:t>In-bound Region, R = 5</a:t>
            </a:r>
            <a:endParaRPr/>
          </a:p>
          <a:p>
            <a:pPr indent="-304800" lvl="0" marL="457200" rtl="0" algn="l">
              <a:lnSpc>
                <a:spcPct val="115000"/>
              </a:lnSpc>
              <a:spcBef>
                <a:spcPts val="0"/>
              </a:spcBef>
              <a:spcAft>
                <a:spcPts val="0"/>
              </a:spcAft>
              <a:buSzPts val="1200"/>
              <a:buChar char="-"/>
            </a:pPr>
            <a:r>
              <a:rPr lang="en-GB"/>
              <a:t>Number of Nodes, N = 13</a:t>
            </a:r>
            <a:endParaRPr/>
          </a:p>
          <a:p>
            <a:pPr indent="-304800" lvl="0" marL="457200" rtl="0" algn="l">
              <a:lnSpc>
                <a:spcPct val="115000"/>
              </a:lnSpc>
              <a:spcBef>
                <a:spcPts val="0"/>
              </a:spcBef>
              <a:spcAft>
                <a:spcPts val="0"/>
              </a:spcAft>
              <a:buSzPts val="1200"/>
              <a:buChar char="-"/>
            </a:pPr>
            <a:r>
              <a:rPr lang="en-GB"/>
              <a:t>Number of Edges, E = 17</a:t>
            </a:r>
            <a:endParaRPr/>
          </a:p>
          <a:p>
            <a:pPr indent="-304800" lvl="0" marL="457200" rtl="0" algn="l">
              <a:lnSpc>
                <a:spcPct val="115000"/>
              </a:lnSpc>
              <a:spcBef>
                <a:spcPts val="0"/>
              </a:spcBef>
              <a:spcAft>
                <a:spcPts val="0"/>
              </a:spcAft>
              <a:buSzPts val="1200"/>
              <a:buChar char="-"/>
            </a:pPr>
            <a:r>
              <a:rPr lang="en-GB"/>
              <a:t>Number of Predicate Nodes, P = 1</a:t>
            </a:r>
            <a:endParaRPr/>
          </a:p>
          <a:p>
            <a:pPr indent="0" lvl="0" marL="0" rtl="0" algn="l">
              <a:lnSpc>
                <a:spcPct val="115000"/>
              </a:lnSpc>
              <a:spcBef>
                <a:spcPts val="1200"/>
              </a:spcBef>
              <a:spcAft>
                <a:spcPts val="0"/>
              </a:spcAft>
              <a:buSzPts val="1200"/>
              <a:buNone/>
            </a:pPr>
            <a:r>
              <a:t/>
            </a:r>
            <a:endParaRPr/>
          </a:p>
          <a:p>
            <a:pPr indent="-304800" lvl="0" marL="457200" rtl="0" algn="l">
              <a:lnSpc>
                <a:spcPct val="115000"/>
              </a:lnSpc>
              <a:spcBef>
                <a:spcPts val="1200"/>
              </a:spcBef>
              <a:spcAft>
                <a:spcPts val="0"/>
              </a:spcAft>
              <a:buSzPts val="1200"/>
              <a:buChar char="-"/>
            </a:pPr>
            <a:r>
              <a:rPr lang="en-GB"/>
              <a:t>Cyclomatic Complexity =</a:t>
            </a:r>
            <a:endParaRPr/>
          </a:p>
          <a:p>
            <a:pPr indent="-304800" lvl="1" marL="914400" rtl="0" algn="l">
              <a:lnSpc>
                <a:spcPct val="115000"/>
              </a:lnSpc>
              <a:spcBef>
                <a:spcPts val="0"/>
              </a:spcBef>
              <a:spcAft>
                <a:spcPts val="0"/>
              </a:spcAft>
              <a:buSzPts val="1200"/>
              <a:buChar char="-"/>
            </a:pPr>
            <a:r>
              <a:rPr lang="en-GB"/>
              <a:t>R + 1 = 5 + 1 = 6</a:t>
            </a:r>
            <a:endParaRPr/>
          </a:p>
          <a:p>
            <a:pPr indent="-304800" lvl="1" marL="914400" rtl="0" algn="l">
              <a:lnSpc>
                <a:spcPct val="115000"/>
              </a:lnSpc>
              <a:spcBef>
                <a:spcPts val="0"/>
              </a:spcBef>
              <a:spcAft>
                <a:spcPts val="0"/>
              </a:spcAft>
              <a:buSzPts val="1200"/>
              <a:buChar char="-"/>
            </a:pPr>
            <a:r>
              <a:rPr lang="en-GB"/>
              <a:t>P + 1 = 5 + 1 = 6</a:t>
            </a:r>
            <a:endParaRPr/>
          </a:p>
          <a:p>
            <a:pPr indent="-304800" lvl="1" marL="914400" rtl="0" algn="l">
              <a:lnSpc>
                <a:spcPct val="115000"/>
              </a:lnSpc>
              <a:spcBef>
                <a:spcPts val="0"/>
              </a:spcBef>
              <a:spcAft>
                <a:spcPts val="0"/>
              </a:spcAft>
              <a:buSzPts val="1200"/>
              <a:buChar char="-"/>
            </a:pPr>
            <a:r>
              <a:rPr lang="en-GB"/>
              <a:t>E - N + 2 = 17 -  13 + 2 = 6</a:t>
            </a:r>
            <a:endParaRPr/>
          </a:p>
        </p:txBody>
      </p:sp>
      <p:grpSp>
        <p:nvGrpSpPr>
          <p:cNvPr id="256" name="Google Shape;256;p17"/>
          <p:cNvGrpSpPr/>
          <p:nvPr/>
        </p:nvGrpSpPr>
        <p:grpSpPr>
          <a:xfrm>
            <a:off x="4037389" y="177675"/>
            <a:ext cx="4598591" cy="4752170"/>
            <a:chOff x="4838875" y="728525"/>
            <a:chExt cx="3926392" cy="4219650"/>
          </a:xfrm>
        </p:grpSpPr>
        <p:pic>
          <p:nvPicPr>
            <p:cNvPr id="257" name="Google Shape;257;p17"/>
            <p:cNvPicPr preferRelativeResize="0"/>
            <p:nvPr/>
          </p:nvPicPr>
          <p:blipFill rotWithShape="1">
            <a:blip r:embed="rId3">
              <a:alphaModFix/>
            </a:blip>
            <a:srcRect b="0" l="0" r="0" t="0"/>
            <a:stretch/>
          </p:blipFill>
          <p:spPr>
            <a:xfrm>
              <a:off x="4838875" y="728525"/>
              <a:ext cx="3926392" cy="4219650"/>
            </a:xfrm>
            <a:prstGeom prst="rect">
              <a:avLst/>
            </a:prstGeom>
            <a:noFill/>
            <a:ln>
              <a:noFill/>
            </a:ln>
          </p:spPr>
        </p:pic>
        <p:sp>
          <p:nvSpPr>
            <p:cNvPr id="258" name="Google Shape;258;p17"/>
            <p:cNvSpPr/>
            <p:nvPr/>
          </p:nvSpPr>
          <p:spPr>
            <a:xfrm>
              <a:off x="7519825" y="1495375"/>
              <a:ext cx="357900" cy="228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ac91b5e27a_0_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264" name="Google Shape;264;g3ac91b5e27a_0_8"/>
          <p:cNvPicPr preferRelativeResize="0"/>
          <p:nvPr/>
        </p:nvPicPr>
        <p:blipFill>
          <a:blip r:embed="rId3">
            <a:alphaModFix/>
          </a:blip>
          <a:stretch>
            <a:fillRect/>
          </a:stretch>
        </p:blipFill>
        <p:spPr>
          <a:xfrm>
            <a:off x="2589975" y="1409825"/>
            <a:ext cx="4552950" cy="25336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